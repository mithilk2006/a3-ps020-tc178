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slide. Replace the team name and code with the values shown on the AIORI portal.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claim SRv6 is always faster or better; the task is to measure and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official PS-020 terminology. The problem statement cites RFC 8754.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link: https://www.rfc-editor.org/rfc/rfc8754.html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proposed plan, not a claim that implementation or testing is already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numerical results are shown because the supplied documents do not provide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 is a conceptual architecture derived from the problem statement; replace it with implementation-specific details as the testbed is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workflow aligned with the PS-020 required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timeline combines technical work phases with the milestones stated in the supplied AIORI guidelines. Confirm dates on the official portal if updated.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expected outcomes from the problem statement, not completed achievements.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uses the supplied problem statement and AIORI guidelines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before exporting and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D2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B4BE"/>
                </a:solidFill>
                <a:latin typeface="Aptos Display"/>
              </a:defRPr>
            </a:pPr>
            <a:r>
              <a:t>PS-020</a:t>
            </a:r>
          </a:p>
          <a:p>
            <a:pPr>
              <a:defRPr sz="3400" b="1">
                <a:solidFill>
                  <a:srgbClr val="0D274C"/>
                </a:solidFill>
                <a:latin typeface="Aptos Display"/>
              </a:defRPr>
            </a:pPr>
            <a:r>
              <a:t>Local SRv6 Path Steering and</a:t>
            </a:r>
            <a:br/>
            <a:r>
              <a:t>Measured Failure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88920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1C5BA0"/>
                </a:solidFill>
              </a:defRPr>
            </a:pPr>
            <a:r>
              <a:t>AIORI-3 | Category: 6G &amp; Future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23042"/>
                </a:solidFill>
                <a:latin typeface="Aptos"/>
              </a:defRPr>
            </a:pPr>
            <a:r>
              <a:t>Team: [Team Name]  |  Team Code: [A3-PS020-TXXXX]</a:t>
            </a:r>
          </a:p>
          <a:p>
            <a:pPr>
              <a:spcAft>
                <a:spcPts val="1300"/>
              </a:spcAft>
              <a:defRPr sz="1600">
                <a:solidFill>
                  <a:srgbClr val="223042"/>
                </a:solidFill>
                <a:latin typeface="Aptos"/>
              </a:defRPr>
            </a:pPr>
            <a:r>
              <a:t>Project focus: compare explicit SRv6 paths with ordinary hop-by-hop IPv6 routing</a:t>
            </a:r>
          </a:p>
          <a:p>
            <a:pPr>
              <a:spcAft>
                <a:spcPts val="1300"/>
              </a:spcAft>
              <a:defRPr sz="1600">
                <a:solidFill>
                  <a:srgbClr val="223042"/>
                </a:solidFill>
                <a:latin typeface="Aptos"/>
              </a:defRPr>
            </a:pPr>
            <a:r>
              <a:t>Objective: measure packet loss, interruption, detection delay, repair delay, and header overhead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005840"/>
            <a:ext cx="2286000" cy="1143000"/>
          </a:xfrm>
          <a:prstGeom prst="roundRect">
            <a:avLst/>
          </a:prstGeom>
          <a:solidFill>
            <a:srgbClr val="F0F6FC"/>
          </a:solidFill>
          <a:ln>
            <a:solidFill>
              <a:srgbClr val="D2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1C5BA0"/>
                </a:solidFill>
              </a:defRPr>
            </a:pPr>
            <a:r>
              <a:t>AIORI-3</a:t>
            </a:r>
          </a:p>
          <a:p>
            <a:pPr algn="ctr">
              <a:defRPr sz="1200">
                <a:solidFill>
                  <a:srgbClr val="223042"/>
                </a:solidFill>
              </a:defRPr>
            </a:pPr>
            <a:r>
              <a:t>6G &amp; Future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D2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D274C"/>
                </a:solidFill>
                <a:latin typeface="Aptos Display"/>
              </a:defRPr>
            </a:pPr>
            <a:r>
              <a:t>Abstract &amp; Problem Description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1051560" cy="54864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Traditional IP routing forwards packets hop-by-hop using paths calculated by routing protocols.</a:t>
            </a:r>
          </a:p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SRv6 allows an ingress router to steer a packet along an explicit path using an ordered list of Segment Identifiers (SIDs).</a:t>
            </a:r>
          </a:p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The challenge is to observe what happens before, during, and after a controlled link failure.</a:t>
            </a:r>
          </a:p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The project compares both approaches on the same five-router topology and failure scenario.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D2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D274C"/>
                </a:solidFill>
                <a:latin typeface="Aptos Display"/>
              </a:defRPr>
            </a:pPr>
            <a:r>
              <a:t>Background: SRv6 Path Steering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1051560" cy="54864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SRv6 means Segment Routing over IPv6.</a:t>
            </a:r>
          </a:p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An ordered list of SIDs is encoded in the IPv6 packet header to specify an explicit path.</a:t>
            </a:r>
          </a:p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The testbed contains five virtual IPv6/SRv6 routers.</a:t>
            </a:r>
          </a:p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Two explicit SRv6 paths will be configured, alongside an ordinary IPv6 routing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D2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D274C"/>
                </a:solidFill>
                <a:latin typeface="Aptos Display"/>
              </a:defRPr>
            </a:pPr>
            <a:r>
              <a:t>Literature &amp; RFC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1051560" cy="54864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Primary reference: RFC 8754 — Segment Routing over IPv6 (SRv6).</a:t>
            </a:r>
          </a:p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The problem statement requires packet captures to verify correct SID traversal.</a:t>
            </a:r>
          </a:p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The comparison must use an identical topology and controlled failure scenario.</a:t>
            </a:r>
          </a:p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No guaranteed operational advantage is assumed; results must come from measurements.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D2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D274C"/>
                </a:solidFill>
                <a:latin typeface="Aptos Display"/>
              </a:defRPr>
            </a:pPr>
            <a:r>
              <a:t>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1051560" cy="54864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1. Build a five-router virtual IPv6/SRv6 testbed.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2. Configure two explicit SRv6 SID paths and an ordinary IPv6 routing baseline.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3. Generate traffic and capture packets to verify SID traversal.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4. Introduce one controlled link failure.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5. Use a script to switch to a backup policy.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6. Repeat the failure scenarios and compare the measurements.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D2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D274C"/>
                </a:solidFill>
                <a:latin typeface="Aptos Display"/>
              </a:defRPr>
            </a:pPr>
            <a:r>
              <a:t>Solution Optimization: What We Will Measure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1051560" cy="54864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Packet loss: packets not received during the test.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Interruption time: duration of the traffic disruption.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Failure detection delay: time taken to detect the failure.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Repair delay: time taken for traffic to recover after the failure.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SRv6 header overhead: additional header cost associated with the explicit path.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Repeat scenarios to improve measurement reliability.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D2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D274C"/>
                </a:solidFill>
                <a:latin typeface="Aptos Display"/>
              </a:defRPr>
            </a:pPr>
            <a:r>
              <a:t>Solution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1051560" cy="54864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1828800" cy="822960"/>
          </a:xfrm>
          <a:prstGeom prst="roundRect">
            <a:avLst/>
          </a:prstGeom>
          <a:solidFill>
            <a:srgbClr val="F0F6FC"/>
          </a:solidFill>
          <a:ln>
            <a:solidFill>
              <a:srgbClr val="D2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1C5BA0"/>
                </a:solidFill>
              </a:defRPr>
            </a:pPr>
            <a:r>
              <a:t>Traffic source</a:t>
            </a:r>
          </a:p>
          <a:p>
            <a:pPr algn="ctr">
              <a:defRPr sz="1200">
                <a:solidFill>
                  <a:srgbClr val="223042"/>
                </a:solidFill>
              </a:defRPr>
            </a:pPr>
            <a:r>
              <a:t>Packets generated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417320"/>
            <a:ext cx="1828800" cy="822960"/>
          </a:xfrm>
          <a:prstGeom prst="roundRect">
            <a:avLst/>
          </a:prstGeom>
          <a:solidFill>
            <a:srgbClr val="F0F6FC"/>
          </a:solidFill>
          <a:ln>
            <a:solidFill>
              <a:srgbClr val="D2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1C5BA0"/>
                </a:solidFill>
              </a:defRPr>
            </a:pPr>
            <a:r>
              <a:t>Ingress router</a:t>
            </a:r>
          </a:p>
          <a:p>
            <a:pPr algn="ctr">
              <a:defRPr sz="1200">
                <a:solidFill>
                  <a:srgbClr val="223042"/>
                </a:solidFill>
              </a:defRPr>
            </a:pPr>
            <a:r>
              <a:t>SRv6 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417320"/>
            <a:ext cx="1828800" cy="822960"/>
          </a:xfrm>
          <a:prstGeom prst="roundRect">
            <a:avLst/>
          </a:prstGeom>
          <a:solidFill>
            <a:srgbClr val="F0F6FC"/>
          </a:solidFill>
          <a:ln>
            <a:solidFill>
              <a:srgbClr val="D2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1C5BA0"/>
                </a:solidFill>
              </a:defRPr>
            </a:pPr>
            <a:r>
              <a:t>5-router testbed</a:t>
            </a:r>
          </a:p>
          <a:p>
            <a:pPr algn="ctr">
              <a:defRPr sz="1200">
                <a:solidFill>
                  <a:srgbClr val="223042"/>
                </a:solidFill>
              </a:defRPr>
            </a:pPr>
            <a:r>
              <a:t>Two explicit SID paths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417320"/>
            <a:ext cx="1828800" cy="822960"/>
          </a:xfrm>
          <a:prstGeom prst="roundRect">
            <a:avLst/>
          </a:prstGeom>
          <a:solidFill>
            <a:srgbClr val="F0F6FC"/>
          </a:solidFill>
          <a:ln>
            <a:solidFill>
              <a:srgbClr val="D2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1C5BA0"/>
                </a:solidFill>
              </a:defRPr>
            </a:pPr>
            <a:r>
              <a:t>Destination</a:t>
            </a:r>
          </a:p>
          <a:p>
            <a:pPr algn="ctr">
              <a:defRPr sz="1200">
                <a:solidFill>
                  <a:srgbClr val="223042"/>
                </a:solidFill>
              </a:defRPr>
            </a:pPr>
            <a:r>
              <a:t>Receive traffic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1417320"/>
            <a:ext cx="1920240" cy="822960"/>
          </a:xfrm>
          <a:prstGeom prst="roundRect">
            <a:avLst/>
          </a:prstGeom>
          <a:solidFill>
            <a:srgbClr val="F0F6FC"/>
          </a:solidFill>
          <a:ln>
            <a:solidFill>
              <a:srgbClr val="D2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1C5BA0"/>
                </a:solidFill>
              </a:defRPr>
            </a:pPr>
            <a:r>
              <a:t>Packet capture</a:t>
            </a:r>
          </a:p>
          <a:p>
            <a:pPr algn="ctr">
              <a:defRPr sz="1200">
                <a:solidFill>
                  <a:srgbClr val="223042"/>
                </a:solidFill>
              </a:defRPr>
            </a:pPr>
            <a:r>
              <a:t>Verify SID traversal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42032" y="1664208"/>
            <a:ext cx="292608" cy="201168"/>
          </a:xfrm>
          <a:prstGeom prst="rightArrow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736592" y="1664208"/>
            <a:ext cx="292608" cy="201168"/>
          </a:xfrm>
          <a:prstGeom prst="rightArrow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931152" y="1664208"/>
            <a:ext cx="292608" cy="201168"/>
          </a:xfrm>
          <a:prstGeom prst="rightArrow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9125712" y="1664208"/>
            <a:ext cx="292608" cy="201168"/>
          </a:xfrm>
          <a:prstGeom prst="rightArrow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17520" y="2743200"/>
            <a:ext cx="2286000" cy="868680"/>
          </a:xfrm>
          <a:prstGeom prst="roundRect">
            <a:avLst/>
          </a:prstGeom>
          <a:solidFill>
            <a:srgbClr val="F0F6FC"/>
          </a:solidFill>
          <a:ln>
            <a:solidFill>
              <a:srgbClr val="D2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1C5BA0"/>
                </a:solidFill>
              </a:defRPr>
            </a:pPr>
            <a:r>
              <a:t>Controlled link failure</a:t>
            </a:r>
          </a:p>
          <a:p>
            <a:pPr algn="ctr">
              <a:defRPr sz="1200">
                <a:solidFill>
                  <a:srgbClr val="223042"/>
                </a:solidFill>
              </a:defRPr>
            </a:pPr>
            <a:r>
              <a:t>Failure trigger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2743200"/>
            <a:ext cx="2286000" cy="868680"/>
          </a:xfrm>
          <a:prstGeom prst="roundRect">
            <a:avLst/>
          </a:prstGeom>
          <a:solidFill>
            <a:srgbClr val="F0F6FC"/>
          </a:solidFill>
          <a:ln>
            <a:solidFill>
              <a:srgbClr val="D2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1C5BA0"/>
                </a:solidFill>
              </a:defRPr>
            </a:pPr>
            <a:r>
              <a:t>Backup-policy script</a:t>
            </a:r>
          </a:p>
          <a:p>
            <a:pPr algn="ctr">
              <a:defRPr sz="1200">
                <a:solidFill>
                  <a:srgbClr val="223042"/>
                </a:solidFill>
              </a:defRPr>
            </a:pPr>
            <a:r>
              <a:t>Switch policy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2743200"/>
            <a:ext cx="2286000" cy="868680"/>
          </a:xfrm>
          <a:prstGeom prst="roundRect">
            <a:avLst/>
          </a:prstGeom>
          <a:solidFill>
            <a:srgbClr val="F0F6FC"/>
          </a:solidFill>
          <a:ln>
            <a:solidFill>
              <a:srgbClr val="D2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1C5BA0"/>
                </a:solidFill>
              </a:defRPr>
            </a:pPr>
            <a:r>
              <a:t>Measurements</a:t>
            </a:r>
          </a:p>
          <a:p>
            <a:pPr algn="ctr">
              <a:defRPr sz="1200">
                <a:solidFill>
                  <a:srgbClr val="223042"/>
                </a:solidFill>
              </a:defRPr>
            </a:pPr>
            <a:r>
              <a:t>Loss, delays, overhead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23042"/>
                </a:solidFill>
                <a:latin typeface="Aptos"/>
              </a:defRPr>
            </a:pPr>
            <a:r>
              <a:t>Traffic source → ingress router → selected path through five-router testbed → destination</a:t>
            </a:r>
          </a:p>
          <a:p>
            <a:pPr>
              <a:spcAft>
                <a:spcPts val="1300"/>
              </a:spcAft>
              <a:defRPr sz="1500">
                <a:solidFill>
                  <a:srgbClr val="223042"/>
                </a:solidFill>
                <a:latin typeface="Aptos"/>
              </a:defRPr>
            </a:pPr>
            <a:r>
              <a:t>Packet capture verifies SID traversal.</a:t>
            </a:r>
          </a:p>
          <a:p>
            <a:pPr>
              <a:spcAft>
                <a:spcPts val="1300"/>
              </a:spcAft>
              <a:defRPr sz="1500">
                <a:solidFill>
                  <a:srgbClr val="223042"/>
                </a:solidFill>
                <a:latin typeface="Aptos"/>
              </a:defRPr>
            </a:pPr>
            <a:r>
              <a:t>Link-failure trigger activates the scripted backup-policy switch.</a:t>
            </a:r>
          </a:p>
          <a:p>
            <a:pPr>
              <a:spcAft>
                <a:spcPts val="1300"/>
              </a:spcAft>
              <a:defRPr sz="1500">
                <a:solidFill>
                  <a:srgbClr val="223042"/>
                </a:solidFill>
                <a:latin typeface="Aptos"/>
              </a:defRPr>
            </a:pPr>
            <a:r>
              <a:t>Measurements are collected for both SRv6 and ordinary IPv6 routing.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D2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D274C"/>
                </a:solidFill>
                <a:latin typeface="Aptos Display"/>
              </a:defRPr>
            </a:pPr>
            <a:r>
              <a:t>Data Flow &amp; Failure-Recovery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1051560" cy="54864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2743200" cy="868680"/>
          </a:xfrm>
          <a:prstGeom prst="roundRect">
            <a:avLst/>
          </a:prstGeom>
          <a:solidFill>
            <a:srgbClr val="F0F6FC"/>
          </a:solidFill>
          <a:ln>
            <a:solidFill>
              <a:srgbClr val="D2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1C5BA0"/>
                </a:solidFill>
              </a:defRPr>
            </a:pPr>
            <a:r>
              <a:t>1. Baseline</a:t>
            </a:r>
          </a:p>
          <a:p>
            <a:pPr algn="ctr">
              <a:defRPr sz="1200">
                <a:solidFill>
                  <a:srgbClr val="223042"/>
                </a:solidFill>
              </a:defRPr>
            </a:pPr>
            <a:r>
              <a:t>Generate traffic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08760"/>
            <a:ext cx="2743200" cy="868680"/>
          </a:xfrm>
          <a:prstGeom prst="roundRect">
            <a:avLst/>
          </a:prstGeom>
          <a:solidFill>
            <a:srgbClr val="F0F6FC"/>
          </a:solidFill>
          <a:ln>
            <a:solidFill>
              <a:srgbClr val="D2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1C5BA0"/>
                </a:solidFill>
              </a:defRPr>
            </a:pPr>
            <a:r>
              <a:t>2. Failure</a:t>
            </a:r>
          </a:p>
          <a:p>
            <a:pPr algn="ctr">
              <a:defRPr sz="1200">
                <a:solidFill>
                  <a:srgbClr val="223042"/>
                </a:solidFill>
              </a:defRPr>
            </a:pPr>
            <a:r>
              <a:t>Break one 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508760"/>
            <a:ext cx="2743200" cy="868680"/>
          </a:xfrm>
          <a:prstGeom prst="roundRect">
            <a:avLst/>
          </a:prstGeom>
          <a:solidFill>
            <a:srgbClr val="F0F6FC"/>
          </a:solidFill>
          <a:ln>
            <a:solidFill>
              <a:srgbClr val="D2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1C5BA0"/>
                </a:solidFill>
              </a:defRPr>
            </a:pPr>
            <a:r>
              <a:t>3. Observe</a:t>
            </a:r>
          </a:p>
          <a:p>
            <a:pPr algn="ctr">
              <a:defRPr sz="1200">
                <a:solidFill>
                  <a:srgbClr val="223042"/>
                </a:solidFill>
              </a:defRPr>
            </a:pPr>
            <a:r>
              <a:t>Capture loss and interruption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26080"/>
            <a:ext cx="2743200" cy="868680"/>
          </a:xfrm>
          <a:prstGeom prst="roundRect">
            <a:avLst/>
          </a:prstGeom>
          <a:solidFill>
            <a:srgbClr val="F0F6FC"/>
          </a:solidFill>
          <a:ln>
            <a:solidFill>
              <a:srgbClr val="D2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1C5BA0"/>
                </a:solidFill>
              </a:defRPr>
            </a:pPr>
            <a:r>
              <a:t>4. Recover</a:t>
            </a:r>
          </a:p>
          <a:p>
            <a:pPr algn="ctr">
              <a:defRPr sz="1200">
                <a:solidFill>
                  <a:srgbClr val="223042"/>
                </a:solidFill>
              </a:defRPr>
            </a:pPr>
            <a:r>
              <a:t>Switch backup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926080"/>
            <a:ext cx="2743200" cy="868680"/>
          </a:xfrm>
          <a:prstGeom prst="roundRect">
            <a:avLst/>
          </a:prstGeom>
          <a:solidFill>
            <a:srgbClr val="F0F6FC"/>
          </a:solidFill>
          <a:ln>
            <a:solidFill>
              <a:srgbClr val="D2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1C5BA0"/>
                </a:solidFill>
              </a:defRPr>
            </a:pPr>
            <a:r>
              <a:t>5. Measure</a:t>
            </a:r>
          </a:p>
          <a:p>
            <a:pPr algn="ctr">
              <a:defRPr sz="1200">
                <a:solidFill>
                  <a:srgbClr val="223042"/>
                </a:solidFill>
              </a:defRPr>
            </a:pPr>
            <a:r>
              <a:t>Detection and repair delay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926080"/>
            <a:ext cx="2743200" cy="868680"/>
          </a:xfrm>
          <a:prstGeom prst="roundRect">
            <a:avLst/>
          </a:prstGeom>
          <a:solidFill>
            <a:srgbClr val="F0F6FC"/>
          </a:solidFill>
          <a:ln>
            <a:solidFill>
              <a:srgbClr val="D2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sz="1600" b="1">
                <a:solidFill>
                  <a:srgbClr val="1C5BA0"/>
                </a:solidFill>
              </a:defRPr>
            </a:pPr>
            <a:r>
              <a:t>6. Compare</a:t>
            </a:r>
          </a:p>
          <a:p>
            <a:pPr algn="ctr">
              <a:defRPr sz="1200">
                <a:solidFill>
                  <a:srgbClr val="223042"/>
                </a:solidFill>
              </a:defRPr>
            </a:pPr>
            <a:r>
              <a:t>Repeat for both routing modes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223042"/>
                </a:solidFill>
                <a:latin typeface="Aptos"/>
              </a:defRPr>
            </a:pPr>
            <a:r>
              <a:t>Start baseline traffic and record normal operation.</a:t>
            </a:r>
          </a:p>
          <a:p>
            <a:pPr>
              <a:spcAft>
                <a:spcPts val="1300"/>
              </a:spcAft>
              <a:defRPr sz="1400">
                <a:solidFill>
                  <a:srgbClr val="223042"/>
                </a:solidFill>
                <a:latin typeface="Aptos"/>
              </a:defRPr>
            </a:pPr>
            <a:r>
              <a:t>Trigger a controlled link failure.</a:t>
            </a:r>
          </a:p>
          <a:p>
            <a:pPr>
              <a:spcAft>
                <a:spcPts val="1300"/>
              </a:spcAft>
              <a:defRPr sz="1400">
                <a:solidFill>
                  <a:srgbClr val="223042"/>
                </a:solidFill>
                <a:latin typeface="Aptos"/>
              </a:defRPr>
            </a:pPr>
            <a:r>
              <a:t>Record packet loss and interruption.</a:t>
            </a:r>
          </a:p>
          <a:p>
            <a:pPr>
              <a:spcAft>
                <a:spcPts val="1300"/>
              </a:spcAft>
              <a:defRPr sz="1400">
                <a:solidFill>
                  <a:srgbClr val="223042"/>
                </a:solidFill>
                <a:latin typeface="Aptos"/>
              </a:defRPr>
            </a:pPr>
            <a:r>
              <a:t>Detect failure and switch to the backup policy.</a:t>
            </a:r>
          </a:p>
          <a:p>
            <a:pPr>
              <a:spcAft>
                <a:spcPts val="1300"/>
              </a:spcAft>
              <a:defRPr sz="1400">
                <a:solidFill>
                  <a:srgbClr val="223042"/>
                </a:solidFill>
                <a:latin typeface="Aptos"/>
              </a:defRPr>
            </a:pPr>
            <a:r>
              <a:t>Record repair delay and capture packets.</a:t>
            </a:r>
          </a:p>
          <a:p>
            <a:pPr>
              <a:spcAft>
                <a:spcPts val="1300"/>
              </a:spcAft>
              <a:defRPr sz="1400">
                <a:solidFill>
                  <a:srgbClr val="223042"/>
                </a:solidFill>
                <a:latin typeface="Aptos"/>
              </a:defRPr>
            </a:pPr>
            <a:r>
              <a:t>Repeat, then compare SRv6 with ordinary IPv6 routing.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D2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D274C"/>
                </a:solidFill>
                <a:latin typeface="Aptos Display"/>
              </a:defRPr>
            </a:pPr>
            <a:r>
              <a:t>Deployment Timeline &amp;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1051560" cy="54864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Phase 1 — Set up the private GitHub repository using the team code.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Phase 2 — Add aiori-hackathon as collaborator and transfer ownership after acceptance.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Phase 3 — Build the topology, configure paths, and prepare the failure script.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Phase 4 — Capture packets, repeat tests, and analyse measurements.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Phase 5 — Upload the PDF presentation, source code, supporting files, and demo link/files.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AIORI timeline: Level 1 steps due 14 Oct; Level 2 announcement 16 Oct; mentoring 16–31 Oct.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D2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D274C"/>
                </a:solidFill>
                <a:latin typeface="Aptos Display"/>
              </a:defRPr>
            </a:pPr>
            <a:r>
              <a:t>Expected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1051560" cy="54864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Five-router SRv6 topology and path-steering configuration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Ordinary IPv6 routing baseline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Scripted failure and backup-policy mechanism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Packet captures demonstrating SID traversal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Repeated-failure performance comparison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Analysis of loss, recovery, and header overhead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Final technical report and prototype demonstration</a:t>
            </a:r>
          </a:p>
          <a:p>
            <a:pPr>
              <a:spcAft>
                <a:spcPts val="1300"/>
              </a:spcAft>
              <a:defRPr sz="1700">
                <a:solidFill>
                  <a:srgbClr val="223042"/>
                </a:solidFill>
                <a:latin typeface="Aptos"/>
              </a:defRPr>
            </a:pPr>
            <a:r>
              <a:t>Prototype demonstration with a pseudocode snippet to the mentor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D2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D274C"/>
                </a:solidFill>
                <a:latin typeface="Aptos Display"/>
              </a:defRPr>
            </a:pPr>
            <a:r>
              <a:t>References &amp; Submission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1051560" cy="54864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RFC 8754: https://www.rfc-editor.org/rfc/rfc8754.html</a:t>
            </a:r>
          </a:p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PS-020: Local SRv6 Path Steering and Measured Failure Recovery (AIORI-3 problem statement)</a:t>
            </a:r>
          </a:p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Use the proposed structure: Abstract, Problem Description, Background, RFC Review, Proposed Solution, Optimization, Architecture, Data Flow, Timeline, Bibliography.</a:t>
            </a:r>
          </a:p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Upload the presentation as PDF; add the YouTube video link to the team GitHub repository.</a:t>
            </a:r>
          </a:p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Follow all ten AIORI guideline steps; the document states that missing required steps can lead to elimination.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D27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0D274C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1051560" cy="54864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19088"/>
            <a:ext cx="457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PS-020 | Local SRv6 Path Steering and Measured Failure Recovery</a:t>
            </a:r>
          </a:p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Team: [Team Name]</a:t>
            </a:r>
          </a:p>
          <a:p>
            <a:pPr>
              <a:spcAft>
                <a:spcPts val="1300"/>
              </a:spcAft>
              <a:defRPr sz="2000">
                <a:solidFill>
                  <a:srgbClr val="223042"/>
                </a:solidFill>
                <a:latin typeface="Aptos"/>
              </a:defRPr>
            </a:pPr>
            <a:r>
              <a:t>Contact: [Team Contact]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