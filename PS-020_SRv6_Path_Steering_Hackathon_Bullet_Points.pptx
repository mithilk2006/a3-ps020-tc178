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 snapToObjects="1">
      <p:cViewPr varScale="1">
        <p:scale>
          <a:sx n="55" d="100"/>
          <a:sy n="55" d="100"/>
        </p:scale>
        <p:origin x="97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haradkalamani3@gmail.com" TargetMode="External"/><Relationship Id="rId2" Type="http://schemas.openxmlformats.org/officeDocument/2006/relationships/hyperlink" Target="mailto:KHOBRAGADE-khobragademithil45@gmail.com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rfc-editor.org/rfc/rfc8986.html" TargetMode="External"/><Relationship Id="rId5" Type="http://schemas.openxmlformats.org/officeDocument/2006/relationships/hyperlink" Target="https://www.rfc-editor.org/rfc/rfc8754.html" TargetMode="External"/><Relationship Id="rId4" Type="http://schemas.openxmlformats.org/officeDocument/2006/relationships/hyperlink" Target="https://www.rfc-editor.org/rfc/rfc8402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rfc-editor.org/rfc/rfc8200.html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30352" y="603504"/>
            <a:ext cx="65836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 dirty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901952"/>
            <a:ext cx="475488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500" b="1" i="0">
                <a:solidFill>
                  <a:srgbClr val="2F5BBE"/>
                </a:solidFill>
                <a:latin typeface="Aptos"/>
              </a:rPr>
              <a:t>PS-020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542032"/>
            <a:ext cx="987552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0" i="0">
                <a:solidFill>
                  <a:srgbClr val="232B38"/>
                </a:solidFill>
                <a:latin typeface="Aptos"/>
              </a:rPr>
              <a:t>Local SRv6 Path Steering and
Measured Failure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3712463"/>
            <a:ext cx="68580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606E82"/>
                </a:solidFill>
                <a:latin typeface="Aptos"/>
              </a:rPr>
              <a:t>6G &amp; Future Networks · AIORI Hackathon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4315968"/>
            <a:ext cx="594360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 dirty="0">
                <a:solidFill>
                  <a:srgbClr val="0F234E"/>
                </a:solidFill>
                <a:latin typeface="Aptos"/>
              </a:rPr>
              <a:t>Team: [</a:t>
            </a:r>
            <a:r>
              <a:rPr lang="en-US" sz="1500" b="1" dirty="0">
                <a:solidFill>
                  <a:srgbClr val="0F234E"/>
                </a:solidFill>
                <a:latin typeface="Aptos"/>
              </a:rPr>
              <a:t>NODEX</a:t>
            </a:r>
            <a:r>
              <a:rPr sz="1500" b="1" i="0" dirty="0">
                <a:solidFill>
                  <a:srgbClr val="0F234E"/>
                </a:solidFill>
                <a:latin typeface="Aptos"/>
              </a:rPr>
              <a:t>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4645152"/>
            <a:ext cx="5943600" cy="72019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232B38"/>
                </a:solidFill>
                <a:latin typeface="Aptos"/>
              </a:rPr>
              <a:t>Presenter(s): [</a:t>
            </a:r>
            <a:r>
              <a:rPr lang="en-US" sz="1400" dirty="0">
                <a:solidFill>
                  <a:srgbClr val="232B38"/>
                </a:solidFill>
                <a:latin typeface="Aptos"/>
              </a:rPr>
              <a:t>MITHI KHOBRAGADE</a:t>
            </a:r>
            <a:r>
              <a:rPr lang="en-US" sz="1400" dirty="0">
                <a:solidFill>
                  <a:srgbClr val="232B38"/>
                </a:solidFill>
                <a:latin typeface="Aptos"/>
                <a:hlinkClick r:id="rId2"/>
              </a:rPr>
              <a:t>-khobragademithil45@gmail.com</a:t>
            </a:r>
            <a:endParaRPr lang="en-US" sz="1400" dirty="0">
              <a:solidFill>
                <a:srgbClr val="232B38"/>
              </a:solidFill>
              <a:latin typeface="Aptos"/>
            </a:endParaRPr>
          </a:p>
          <a:p>
            <a:pPr algn="l">
              <a:spcAft>
                <a:spcPts val="0"/>
              </a:spcAft>
            </a:pPr>
            <a:r>
              <a:rPr lang="en-US" sz="1400" dirty="0">
                <a:solidFill>
                  <a:srgbClr val="232B38"/>
                </a:solidFill>
                <a:latin typeface="Aptos"/>
              </a:rPr>
              <a:t>                             SHARAD KALMANI- </a:t>
            </a:r>
            <a:r>
              <a:rPr lang="en-US" sz="1400" dirty="0">
                <a:solidFill>
                  <a:srgbClr val="232B38"/>
                </a:solidFill>
                <a:latin typeface="Aptos"/>
                <a:hlinkClick r:id="rId3"/>
              </a:rPr>
              <a:t>sharadkalamani3@gmail.com</a:t>
            </a:r>
            <a:r>
              <a:rPr lang="en-US" sz="1400" dirty="0">
                <a:solidFill>
                  <a:srgbClr val="232B38"/>
                </a:solidFill>
                <a:latin typeface="Aptos"/>
              </a:rPr>
              <a:t>          ]</a:t>
            </a:r>
          </a:p>
          <a:p>
            <a:pPr algn="l">
              <a:spcAft>
                <a:spcPts val="0"/>
              </a:spcAft>
            </a:pPr>
            <a:endParaRPr sz="1400" b="0" i="0" dirty="0">
              <a:solidFill>
                <a:srgbClr val="232B38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27080" y="2148840"/>
            <a:ext cx="1143000" cy="18288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IP
ROUTING
×
SRv6</a:t>
            </a: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5E18722F-35DD-5276-5BC7-B8B33DF3CDE7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2039" y="255460"/>
            <a:ext cx="1000125" cy="1000125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3ADDD65D-FD1A-3EF7-EB3B-44788FFAE75F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0917936" y="286321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7472" y="233172"/>
            <a:ext cx="384048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3297"/>
            <a:ext cx="9680067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234E"/>
                </a:solidFill>
                <a:latin typeface="Aptos"/>
              </a:rPr>
              <a:t>Abstract &amp; Problem Description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2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0557"/>
            <a:ext cx="192024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2F5BBE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245942"/>
            <a:ext cx="1088136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dirty="0"/>
              <a:t>•  Build a five-router virtual testbed.</a:t>
            </a:r>
          </a:p>
          <a:p>
            <a:pPr>
              <a:spcAft>
                <a:spcPts val="500"/>
              </a:spcAft>
            </a:pPr>
            <a:r>
              <a:rPr sz="1700" dirty="0"/>
              <a:t>•  Compare explicit SRv6 steering with hop-by-hop IPv6 routing.</a:t>
            </a:r>
          </a:p>
          <a:p>
            <a:pPr>
              <a:spcAft>
                <a:spcPts val="500"/>
              </a:spcAft>
            </a:pPr>
            <a:r>
              <a:rPr sz="1700" dirty="0"/>
              <a:t>•  Use the same controlled link failure for both.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714205"/>
            <a:ext cx="3520440" cy="205740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3741636"/>
            <a:ext cx="64008" cy="2002536"/>
          </a:xfrm>
          <a:prstGeom prst="rect">
            <a:avLst/>
          </a:prstGeom>
          <a:solidFill>
            <a:srgbClr val="2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85136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The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44557"/>
            <a:ext cx="317296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Traditional IP routing forwards packets hop by hop.</a:t>
            </a:r>
          </a:p>
          <a:p>
            <a:pPr>
              <a:spcAft>
                <a:spcPts val="500"/>
              </a:spcAft>
            </a:pPr>
            <a:r>
              <a:rPr sz="1500"/>
              <a:t>•  SRv6 can steer packets through an ordered list of SIDs.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3714205"/>
            <a:ext cx="3520440" cy="205740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3741636"/>
            <a:ext cx="64008" cy="2002536"/>
          </a:xfrm>
          <a:prstGeom prst="rect">
            <a:avLst/>
          </a:prstGeom>
          <a:solidFill>
            <a:srgbClr val="2A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98848" y="385136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What will be tested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4244557"/>
            <a:ext cx="317296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Test two explicit SRv6 paths.</a:t>
            </a:r>
          </a:p>
          <a:p>
            <a:pPr>
              <a:spcAft>
                <a:spcPts val="500"/>
              </a:spcAft>
            </a:pPr>
            <a:r>
              <a:rPr sz="1500"/>
              <a:t>•  Trigger one controlled link failure.</a:t>
            </a:r>
          </a:p>
          <a:p>
            <a:pPr>
              <a:spcAft>
                <a:spcPts val="500"/>
              </a:spcAft>
            </a:pPr>
            <a:r>
              <a:rPr sz="1500"/>
              <a:t>•  Switch to a configured backup policy.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3714205"/>
            <a:ext cx="3520440" cy="205740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65008" y="3741636"/>
            <a:ext cx="64008" cy="2002536"/>
          </a:xfrm>
          <a:prstGeom prst="rect">
            <a:avLst/>
          </a:prstGeom>
          <a:solidFill>
            <a:srgbClr val="1E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47888" y="3851364"/>
            <a:ext cx="32004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Evidence 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244557"/>
            <a:ext cx="3172968" cy="1417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Capture packets and repeat trials.</a:t>
            </a:r>
          </a:p>
          <a:p>
            <a:pPr>
              <a:spcAft>
                <a:spcPts val="500"/>
              </a:spcAft>
            </a:pPr>
            <a:r>
              <a:rPr sz="1500"/>
              <a:t>•  Measure packet loss and recovery time.</a:t>
            </a:r>
          </a:p>
          <a:p>
            <a:pPr>
              <a:spcAft>
                <a:spcPts val="500"/>
              </a:spcAft>
            </a:pPr>
            <a:r>
              <a:rPr sz="1500"/>
              <a:t>•  Analyze SRv6 header overhead.</a:t>
            </a:r>
          </a:p>
        </p:txBody>
      </p:sp>
      <p:pic>
        <p:nvPicPr>
          <p:cNvPr id="26" name="Image 2">
            <a:extLst>
              <a:ext uri="{FF2B5EF4-FFF2-40B4-BE49-F238E27FC236}">
                <a16:creationId xmlns:a16="http://schemas.microsoft.com/office/drawing/2014/main" id="{2EE7FFE7-18BE-54C7-C1B5-8CA32CDB61E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745" y="153733"/>
            <a:ext cx="1000125" cy="1000125"/>
          </a:xfrm>
          <a:prstGeom prst="rect">
            <a:avLst/>
          </a:prstGeom>
        </p:spPr>
      </p:pic>
      <p:pic>
        <p:nvPicPr>
          <p:cNvPr id="27" name="Image 3">
            <a:extLst>
              <a:ext uri="{FF2B5EF4-FFF2-40B4-BE49-F238E27FC236}">
                <a16:creationId xmlns:a16="http://schemas.microsoft.com/office/drawing/2014/main" id="{DEC33506-B1EE-1096-F60A-77992C15368B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80230" y="124587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9516" y="1145001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0F234E"/>
                </a:solidFill>
                <a:latin typeface="Aptos"/>
              </a:rPr>
              <a:t>Background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3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653135"/>
            <a:ext cx="534924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66928" y="1680567"/>
            <a:ext cx="64008" cy="1453895"/>
          </a:xfrm>
          <a:prstGeom prst="rect">
            <a:avLst/>
          </a:prstGeom>
          <a:solidFill>
            <a:srgbClr val="2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790294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Ordinary IPv6 routing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3487"/>
            <a:ext cx="500176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Routers use IPv6 routing tables to select the next hop.</a:t>
            </a:r>
          </a:p>
          <a:p>
            <a:pPr>
              <a:spcAft>
                <a:spcPts val="500"/>
              </a:spcAft>
            </a:pPr>
            <a:r>
              <a:rPr sz="1500"/>
              <a:t>•  Backup behavior depends on routing and failover configuration.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653135"/>
            <a:ext cx="534924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680567"/>
            <a:ext cx="64008" cy="1453895"/>
          </a:xfrm>
          <a:prstGeom prst="rect">
            <a:avLst/>
          </a:prstGeom>
          <a:solidFill>
            <a:srgbClr val="2A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82512" y="1790294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Segment Routing over IPv6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183487"/>
            <a:ext cx="500176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SRv6 uses Segment Identifiers (SIDs).</a:t>
            </a:r>
          </a:p>
          <a:p>
            <a:pPr>
              <a:spcAft>
                <a:spcPts val="500"/>
              </a:spcAft>
            </a:pPr>
            <a:r>
              <a:rPr sz="1500"/>
              <a:t>•  SIDs represent segments or behaviors and guide packets through configured waypoints.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54503"/>
            <a:ext cx="534924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3481935"/>
            <a:ext cx="64008" cy="1453895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9808" y="3591663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Failure and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3984855"/>
            <a:ext cx="5001768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A link failure can cause packet loss.</a:t>
            </a:r>
          </a:p>
          <a:p>
            <a:pPr>
              <a:spcAft>
                <a:spcPts val="500"/>
              </a:spcAft>
            </a:pPr>
            <a:r>
              <a:rPr sz="1500"/>
              <a:t>•  Recovery depends on failure detection and route or policy switching.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3454503"/>
            <a:ext cx="5349240" cy="1508760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9632" y="3481935"/>
            <a:ext cx="64008" cy="1453895"/>
          </a:xfrm>
          <a:prstGeom prst="rect">
            <a:avLst/>
          </a:prstGeom>
          <a:solidFill>
            <a:srgbClr val="1E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2512" y="3591663"/>
            <a:ext cx="5029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0F234E"/>
                </a:solidFill>
                <a:latin typeface="Aptos"/>
              </a:rPr>
              <a:t>Why compare them?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2512" y="3984855"/>
            <a:ext cx="5001768" cy="8304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dirty="0"/>
              <a:t>•  Keep topology, endpoints, traffic and failure conditions the same.</a:t>
            </a:r>
          </a:p>
          <a:p>
            <a:pPr>
              <a:spcAft>
                <a:spcPts val="500"/>
              </a:spcAft>
            </a:pPr>
            <a:r>
              <a:rPr sz="1500" dirty="0"/>
              <a:t>•  Compare packet behavior and recovery fairly.</a:t>
            </a:r>
            <a:endParaRPr lang="en-US" sz="1500" dirty="0"/>
          </a:p>
        </p:txBody>
      </p:sp>
      <p:sp>
        <p:nvSpPr>
          <p:cNvPr id="25" name="TextBox 24"/>
          <p:cNvSpPr txBox="1"/>
          <p:nvPr/>
        </p:nvSpPr>
        <p:spPr>
          <a:xfrm>
            <a:off x="621792" y="5402175"/>
            <a:ext cx="1078992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F234E"/>
                </a:solidFill>
                <a:latin typeface="Aptos"/>
              </a:rPr>
              <a:t>Key terms: SID list = ordered segment instructions · SRH = Segment Routing Header · repair delay = time from failure handling to restored forwarding.</a:t>
            </a:r>
          </a:p>
        </p:txBody>
      </p:sp>
      <p:pic>
        <p:nvPicPr>
          <p:cNvPr id="26" name="Image 2">
            <a:extLst>
              <a:ext uri="{FF2B5EF4-FFF2-40B4-BE49-F238E27FC236}">
                <a16:creationId xmlns:a16="http://schemas.microsoft.com/office/drawing/2014/main" id="{D79FDD71-B535-3035-A021-F2043603009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49745" y="172735"/>
            <a:ext cx="1000125" cy="1000125"/>
          </a:xfrm>
          <a:prstGeom prst="rect">
            <a:avLst/>
          </a:prstGeom>
        </p:spPr>
      </p:pic>
      <p:pic>
        <p:nvPicPr>
          <p:cNvPr id="27" name="Image 3">
            <a:extLst>
              <a:ext uri="{FF2B5EF4-FFF2-40B4-BE49-F238E27FC236}">
                <a16:creationId xmlns:a16="http://schemas.microsoft.com/office/drawing/2014/main" id="{7330FE4A-5755-2958-6641-49A03C5B0956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844620" y="202598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4 / 11</a:t>
            </a:r>
          </a:p>
        </p:txBody>
      </p:sp>
      <p:pic>
        <p:nvPicPr>
          <p:cNvPr id="25" name="Image 2">
            <a:extLst>
              <a:ext uri="{FF2B5EF4-FFF2-40B4-BE49-F238E27FC236}">
                <a16:creationId xmlns:a16="http://schemas.microsoft.com/office/drawing/2014/main" id="{2A191D69-4E87-D47A-F01E-701F9019E86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1430" y="104563"/>
            <a:ext cx="1000125" cy="1000125"/>
          </a:xfrm>
          <a:prstGeom prst="rect">
            <a:avLst/>
          </a:prstGeom>
        </p:spPr>
      </p:pic>
      <p:pic>
        <p:nvPicPr>
          <p:cNvPr id="26" name="Image 3">
            <a:extLst>
              <a:ext uri="{FF2B5EF4-FFF2-40B4-BE49-F238E27FC236}">
                <a16:creationId xmlns:a16="http://schemas.microsoft.com/office/drawing/2014/main" id="{32A91C0D-7F02-A436-AE59-C7F35E1E461D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43247" y="280035"/>
            <a:ext cx="962025" cy="1000125"/>
          </a:xfrm>
          <a:prstGeom prst="rect">
            <a:avLst/>
          </a:prstGeom>
        </p:spPr>
      </p:pic>
      <p:sp>
        <p:nvSpPr>
          <p:cNvPr id="28" name="Title">
            <a:extLst>
              <a:ext uri="{FF2B5EF4-FFF2-40B4-BE49-F238E27FC236}">
                <a16:creationId xmlns:a16="http://schemas.microsoft.com/office/drawing/2014/main" id="{856A6DA7-A952-2951-3C91-D18063E3EBBD}"/>
              </a:ext>
            </a:extLst>
          </p:cNvPr>
          <p:cNvSpPr txBox="1"/>
          <p:nvPr/>
        </p:nvSpPr>
        <p:spPr>
          <a:xfrm>
            <a:off x="352449" y="1280160"/>
            <a:ext cx="12421752" cy="472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600" dirty="0"/>
          </a:p>
        </p:txBody>
      </p:sp>
      <p:sp>
        <p:nvSpPr>
          <p:cNvPr id="30" name="Heading 1">
            <a:extLst>
              <a:ext uri="{FF2B5EF4-FFF2-40B4-BE49-F238E27FC236}">
                <a16:creationId xmlns:a16="http://schemas.microsoft.com/office/drawing/2014/main" id="{C2F1B520-289C-A3E9-66B2-A7941B9846B6}"/>
              </a:ext>
            </a:extLst>
          </p:cNvPr>
          <p:cNvSpPr txBox="1"/>
          <p:nvPr/>
        </p:nvSpPr>
        <p:spPr>
          <a:xfrm>
            <a:off x="457200" y="2101966"/>
            <a:ext cx="3939096" cy="60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pen RF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8402</a:t>
            </a:r>
            <a:endParaRPr lang="en-US" sz="2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Routing Architecture (2018)</a:t>
            </a:r>
            <a:endParaRPr lang="en-US" sz="2200" dirty="0"/>
          </a:p>
        </p:txBody>
      </p:sp>
      <p:sp>
        <p:nvSpPr>
          <p:cNvPr id="32" name="Bullets 1">
            <a:extLst>
              <a:ext uri="{FF2B5EF4-FFF2-40B4-BE49-F238E27FC236}">
                <a16:creationId xmlns:a16="http://schemas.microsoft.com/office/drawing/2014/main" id="{C14A877B-91E3-1798-D8E9-75526FC7C3EF}"/>
              </a:ext>
            </a:extLst>
          </p:cNvPr>
          <p:cNvSpPr txBox="1"/>
          <p:nvPr/>
        </p:nvSpPr>
        <p:spPr>
          <a:xfrm>
            <a:off x="328779" y="2945759"/>
            <a:ext cx="3939096" cy="2969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Segment Routing architecture and source routing using ordered segments.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packet carries its intended path, so routers need no per-path state.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 for comparing conventional IPv6 routing with SRv6 path steering.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only; no measurements for your five-router topology or recovery script.</a:t>
            </a:r>
            <a:endParaRPr lang="en-US" sz="1600" dirty="0"/>
          </a:p>
        </p:txBody>
      </p:sp>
      <p:sp>
        <p:nvSpPr>
          <p:cNvPr id="34" name="Heading 2">
            <a:extLst>
              <a:ext uri="{FF2B5EF4-FFF2-40B4-BE49-F238E27FC236}">
                <a16:creationId xmlns:a16="http://schemas.microsoft.com/office/drawing/2014/main" id="{8A37B197-9CB3-BF90-0B88-7E8E5FD4941D}"/>
              </a:ext>
            </a:extLst>
          </p:cNvPr>
          <p:cNvSpPr txBox="1"/>
          <p:nvPr/>
        </p:nvSpPr>
        <p:spPr>
          <a:xfrm>
            <a:off x="4306824" y="2101966"/>
            <a:ext cx="3939096" cy="60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tooltip="Open RF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8754</a:t>
            </a:r>
            <a:endParaRPr lang="en-US" sz="2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Segment Routing Header (2020)</a:t>
            </a:r>
            <a:endParaRPr lang="en-US" sz="2200" dirty="0"/>
          </a:p>
        </p:txBody>
      </p:sp>
      <p:sp>
        <p:nvSpPr>
          <p:cNvPr id="36" name="Bullets 2">
            <a:extLst>
              <a:ext uri="{FF2B5EF4-FFF2-40B4-BE49-F238E27FC236}">
                <a16:creationId xmlns:a16="http://schemas.microsoft.com/office/drawing/2014/main" id="{F9562BBA-77AB-CEA5-6009-672D6D5EB27C}"/>
              </a:ext>
            </a:extLst>
          </p:cNvPr>
          <p:cNvSpPr txBox="1"/>
          <p:nvPr/>
        </p:nvSpPr>
        <p:spPr>
          <a:xfrm>
            <a:off x="4306824" y="3107805"/>
            <a:ext cx="3939096" cy="2969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the SRH format and processing rules for an SRv6 segment list.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fields such as Segments Left and Last Entry.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inspect packets in Wireshark and check header overhead.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set a recovery policy or recovery time.</a:t>
            </a:r>
            <a:endParaRPr lang="en-US" sz="1600" dirty="0"/>
          </a:p>
        </p:txBody>
      </p:sp>
      <p:sp>
        <p:nvSpPr>
          <p:cNvPr id="38" name="Heading 3">
            <a:extLst>
              <a:ext uri="{FF2B5EF4-FFF2-40B4-BE49-F238E27FC236}">
                <a16:creationId xmlns:a16="http://schemas.microsoft.com/office/drawing/2014/main" id="{6A185A2A-5005-8AF6-A743-1334B0A942A7}"/>
              </a:ext>
            </a:extLst>
          </p:cNvPr>
          <p:cNvSpPr txBox="1"/>
          <p:nvPr/>
        </p:nvSpPr>
        <p:spPr>
          <a:xfrm>
            <a:off x="8156448" y="2101966"/>
            <a:ext cx="3939096" cy="60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tooltip="Open RFC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8986</a:t>
            </a:r>
            <a:endParaRPr lang="en-US" sz="2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SRv6 Network Programming (2021)</a:t>
            </a:r>
            <a:endParaRPr lang="en-US" sz="2200" dirty="0"/>
          </a:p>
        </p:txBody>
      </p:sp>
      <p:sp>
        <p:nvSpPr>
          <p:cNvPr id="40" name="Bullets 3">
            <a:extLst>
              <a:ext uri="{FF2B5EF4-FFF2-40B4-BE49-F238E27FC236}">
                <a16:creationId xmlns:a16="http://schemas.microsoft.com/office/drawing/2014/main" id="{9B8D3628-B70E-6DFF-9F80-07A8B37FA23E}"/>
              </a:ext>
            </a:extLst>
          </p:cNvPr>
          <p:cNvSpPr txBox="1"/>
          <p:nvPr/>
        </p:nvSpPr>
        <p:spPr>
          <a:xfrm>
            <a:off x="8156448" y="3107805"/>
            <a:ext cx="3939096" cy="2969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SRv6 endpoint behaviors for Segment Identifiers (SIDs).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Behaviors such as End and End.X let a router process a SID and keep forwarding.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Relevance: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reference for implementing SIDs on the routers.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Limitation: </a:t>
            </a: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automatic failure detection; does not prove a backup policy activates.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1792" y="1073220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0F234E"/>
                </a:solidFill>
                <a:latin typeface="Aptos"/>
              </a:rPr>
              <a:t>Proposed Solution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5 /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17143"/>
            <a:ext cx="3474720" cy="1572768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744575"/>
            <a:ext cx="64008" cy="1517904"/>
          </a:xfrm>
          <a:prstGeom prst="rect">
            <a:avLst/>
          </a:prstGeom>
          <a:solidFill>
            <a:srgbClr val="2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854303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01  Build topology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7495"/>
            <a:ext cx="3127248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Build a five-router topology.</a:t>
            </a:r>
          </a:p>
          <a:p>
            <a:pPr>
              <a:spcAft>
                <a:spcPts val="500"/>
              </a:spcAft>
            </a:pPr>
            <a:r>
              <a:rPr sz="1500"/>
              <a:t>•  Verify IPv6 connectivity and two viable paths.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717143"/>
            <a:ext cx="3474720" cy="1572768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744575"/>
            <a:ext cx="64008" cy="1517904"/>
          </a:xfrm>
          <a:prstGeom prst="rect">
            <a:avLst/>
          </a:prstGeom>
          <a:solidFill>
            <a:srgbClr val="2AA0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1854303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02  IPv6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47495"/>
            <a:ext cx="3127248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Configure ordinary hop-by-hop IPv6 routing.</a:t>
            </a:r>
          </a:p>
          <a:p>
            <a:pPr>
              <a:spcAft>
                <a:spcPts val="500"/>
              </a:spcAft>
            </a:pPr>
            <a:r>
              <a:rPr sz="1500"/>
              <a:t>•  Verify reachability.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80" y="1717143"/>
            <a:ext cx="3474720" cy="1572768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83880" y="1744575"/>
            <a:ext cx="64008" cy="1517904"/>
          </a:xfrm>
          <a:prstGeom prst="rect">
            <a:avLst/>
          </a:prstGeom>
          <a:solidFill>
            <a:srgbClr val="1E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66760" y="1854303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03  SRv6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247495"/>
            <a:ext cx="3127248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Configure SIDs.</a:t>
            </a:r>
          </a:p>
          <a:p>
            <a:pPr>
              <a:spcAft>
                <a:spcPts val="500"/>
              </a:spcAft>
            </a:pPr>
            <a:r>
              <a:rPr sz="1500"/>
              <a:t>•  Set up two explicit paths on an SRv6-capable platform.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747111"/>
            <a:ext cx="3474720" cy="1572768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94360" y="3774543"/>
            <a:ext cx="64008" cy="1517904"/>
          </a:xfrm>
          <a:prstGeom prst="rect">
            <a:avLst/>
          </a:prstGeom>
          <a:solidFill>
            <a:srgbClr val="E0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884271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04  Controlled failure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77463"/>
            <a:ext cx="3127248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Shut down the selected link.</a:t>
            </a:r>
          </a:p>
          <a:p>
            <a:pPr>
              <a:spcAft>
                <a:spcPts val="500"/>
              </a:spcAft>
            </a:pPr>
            <a:r>
              <a:rPr sz="1500"/>
              <a:t>•  Run the detection and backup-switch script.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47111"/>
            <a:ext cx="3474720" cy="1572768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774543"/>
            <a:ext cx="64008" cy="1517904"/>
          </a:xfrm>
          <a:prstGeom prst="rect">
            <a:avLst/>
          </a:prstGeom>
          <a:solidFill>
            <a:srgbClr val="2F5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0" y="3884271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05  Capture &amp; measure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277463"/>
            <a:ext cx="3127248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Capture packets and count loss.</a:t>
            </a:r>
          </a:p>
          <a:p>
            <a:pPr>
              <a:spcAft>
                <a:spcPts val="500"/>
              </a:spcAft>
            </a:pPr>
            <a:r>
              <a:rPr sz="1500"/>
              <a:t>•  Measure interruption and repair time.</a:t>
            </a:r>
          </a:p>
          <a:p>
            <a:pPr>
              <a:spcAft>
                <a:spcPts val="500"/>
              </a:spcAft>
            </a:pPr>
            <a:r>
              <a:rPr sz="1500"/>
              <a:t>•  Inspect SRH overhead.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80" y="3747111"/>
            <a:ext cx="3474720" cy="1572768"/>
          </a:xfrm>
          <a:prstGeom prst="roundRect">
            <a:avLst/>
          </a:prstGeom>
          <a:solidFill>
            <a:srgbClr val="F7F9FC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83880" y="3774543"/>
            <a:ext cx="64008" cy="1517904"/>
          </a:xfrm>
          <a:prstGeom prst="rect">
            <a:avLst/>
          </a:prstGeom>
          <a:solidFill>
            <a:srgbClr val="1E91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66760" y="3884271"/>
            <a:ext cx="3154679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06  Repeat &amp; compare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277463"/>
            <a:ext cx="3127248" cy="9326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/>
              <a:t>•  Repeat identical trials.</a:t>
            </a:r>
          </a:p>
          <a:p>
            <a:pPr>
              <a:spcAft>
                <a:spcPts val="500"/>
              </a:spcAft>
            </a:pPr>
            <a:r>
              <a:rPr sz="1500"/>
              <a:t>•  Summarize measured results without assuming a winner.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5859375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0F234E"/>
                </a:solidFill>
                <a:latin typeface="Aptos"/>
              </a:rPr>
              <a:t>Fairness controls: same source/destination, topology, packet size/rate, failure link, and trial duration for both cases.</a:t>
            </a:r>
          </a:p>
        </p:txBody>
      </p:sp>
      <p:pic>
        <p:nvPicPr>
          <p:cNvPr id="34" name="Image 2">
            <a:extLst>
              <a:ext uri="{FF2B5EF4-FFF2-40B4-BE49-F238E27FC236}">
                <a16:creationId xmlns:a16="http://schemas.microsoft.com/office/drawing/2014/main" id="{DDAAE892-2C94-3981-05D9-8D24B7E990D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177" y="93297"/>
            <a:ext cx="1000125" cy="1000125"/>
          </a:xfrm>
          <a:prstGeom prst="rect">
            <a:avLst/>
          </a:prstGeom>
        </p:spPr>
      </p:pic>
      <p:pic>
        <p:nvPicPr>
          <p:cNvPr id="35" name="Image 3">
            <a:extLst>
              <a:ext uri="{FF2B5EF4-FFF2-40B4-BE49-F238E27FC236}">
                <a16:creationId xmlns:a16="http://schemas.microsoft.com/office/drawing/2014/main" id="{6C15E426-7BB6-1E10-A5A8-6C5952DF01F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96451" y="155412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165859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234E"/>
                </a:solidFill>
                <a:latin typeface="Aptos"/>
              </a:rPr>
              <a:t>Solution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6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06075"/>
            <a:ext cx="106984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232B38"/>
                </a:solidFill>
                <a:latin typeface="Aptos"/>
              </a:rPr>
              <a:t>Optimization focus: make the comparison repeatable, observable and fair.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693695"/>
              </p:ext>
            </p:extLst>
          </p:nvPr>
        </p:nvGraphicFramePr>
        <p:xfrm>
          <a:off x="463731" y="2328562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Aspect</a:t>
                      </a:r>
                    </a:p>
                  </a:txBody>
                  <a:tcPr marR="73152" marT="54864" marB="36576">
                    <a:solidFill>
                      <a:srgbClr val="0F23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Baseline / initial setup</a:t>
                      </a:r>
                    </a:p>
                  </a:txBody>
                  <a:tcPr marR="73152" marT="54864" marB="36576">
                    <a:solidFill>
                      <a:srgbClr val="0F23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Improved experiment design</a:t>
                      </a:r>
                    </a:p>
                  </a:txBody>
                  <a:tcPr marR="73152" marT="54864" marB="36576">
                    <a:solidFill>
                      <a:srgbClr val="0F2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Path selection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IPv6 routes selected by routing tables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Explicit SID lists for SRv6 path steering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Failure handling</a:t>
                      </a:r>
                    </a:p>
                  </a:txBody>
                  <a:tcPr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Record the configured IPv6 recovery behavior</a:t>
                      </a:r>
                    </a:p>
                  </a:txBody>
                  <a:tcPr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Scripted switch to a preconfigured SRv6 backup policy</a:t>
                      </a:r>
                    </a:p>
                  </a:txBody>
                  <a:tcPr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Measurements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Single ping test may miss short events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Timestamped repeated probes + packet captures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Verification</a:t>
                      </a:r>
                    </a:p>
                  </a:txBody>
                  <a:tcPr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Reachability alone does not prove the path</a:t>
                      </a:r>
                    </a:p>
                  </a:txBody>
                  <a:tcPr marR="73152" marT="54864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Inspect SRv6 packet header and confirm SID traversal</a:t>
                      </a:r>
                    </a:p>
                  </a:txBody>
                  <a:tcPr marR="73152" marT="54864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Reliability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t>One run can be noisy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32B38"/>
                          </a:solidFill>
                          <a:latin typeface="Aptos"/>
                        </a:defRPr>
                      </a:pPr>
                      <a:r>
                        <a:rPr dirty="0"/>
                        <a:t>Repeat trials; report mean/range and exact setup</a:t>
                      </a:r>
                    </a:p>
                  </a:txBody>
                  <a:tcPr marR="73152" marT="54864" marB="36576">
                    <a:solidFill>
                      <a:srgbClr val="EF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Image 2">
            <a:extLst>
              <a:ext uri="{FF2B5EF4-FFF2-40B4-BE49-F238E27FC236}">
                <a16:creationId xmlns:a16="http://schemas.microsoft.com/office/drawing/2014/main" id="{F68555E5-125C-2C5F-33EA-39FD34DBA845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9376" y="100313"/>
            <a:ext cx="1000125" cy="1000125"/>
          </a:xfrm>
          <a:prstGeom prst="rect">
            <a:avLst/>
          </a:prstGeom>
        </p:spPr>
      </p:pic>
      <p:pic>
        <p:nvPicPr>
          <p:cNvPr id="13" name="Image 3">
            <a:extLst>
              <a:ext uri="{FF2B5EF4-FFF2-40B4-BE49-F238E27FC236}">
                <a16:creationId xmlns:a16="http://schemas.microsoft.com/office/drawing/2014/main" id="{E5CE2248-7C13-0D99-31BF-FF1D1141E52F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33748" y="266530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8323" y="1298229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234E"/>
                </a:solidFill>
                <a:latin typeface="Aptos"/>
              </a:rPr>
              <a:t>Solution Architecture &amp;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7 /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84714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06E82"/>
                </a:solidFill>
                <a:latin typeface="Aptos"/>
              </a:rPr>
              <a:t>Traffic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2884714"/>
            <a:ext cx="12801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606E82"/>
                </a:solidFill>
                <a:latin typeface="Aptos"/>
              </a:rPr>
              <a:t>Traffic sink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" y="3332770"/>
            <a:ext cx="114300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2A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5820" y="3378489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 dirty="0">
                <a:solidFill>
                  <a:srgbClr val="0F234E"/>
                </a:solidFill>
                <a:latin typeface="Aptos"/>
              </a:rPr>
              <a:t>Host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3332770"/>
            <a:ext cx="914400" cy="566928"/>
          </a:xfrm>
          <a:prstGeom prst="roundRect">
            <a:avLst/>
          </a:prstGeom>
          <a:solidFill>
            <a:srgbClr val="EFF4FC"/>
          </a:solidFill>
          <a:ln>
            <a:solidFill>
              <a:srgbClr val="2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3378489"/>
            <a:ext cx="914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R1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2189769"/>
            <a:ext cx="914400" cy="566928"/>
          </a:xfrm>
          <a:prstGeom prst="roundRect">
            <a:avLst/>
          </a:prstGeom>
          <a:solidFill>
            <a:srgbClr val="EFF4FC"/>
          </a:solidFill>
          <a:ln>
            <a:solidFill>
              <a:srgbClr val="2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36592" y="2245940"/>
            <a:ext cx="914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430050"/>
            <a:ext cx="914400" cy="566928"/>
          </a:xfrm>
          <a:prstGeom prst="roundRect">
            <a:avLst/>
          </a:prstGeom>
          <a:solidFill>
            <a:srgbClr val="EFF4FC"/>
          </a:solidFill>
          <a:ln>
            <a:solidFill>
              <a:srgbClr val="2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09160" y="4475770"/>
            <a:ext cx="914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R3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0" y="3332770"/>
            <a:ext cx="914400" cy="566928"/>
          </a:xfrm>
          <a:prstGeom prst="roundRect">
            <a:avLst/>
          </a:prstGeom>
          <a:solidFill>
            <a:srgbClr val="EFF4FC"/>
          </a:solidFill>
          <a:ln>
            <a:solidFill>
              <a:srgbClr val="2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0" y="3378489"/>
            <a:ext cx="914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R4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40" y="3332770"/>
            <a:ext cx="914400" cy="566928"/>
          </a:xfrm>
          <a:prstGeom prst="roundRect">
            <a:avLst/>
          </a:prstGeom>
          <a:solidFill>
            <a:srgbClr val="EFF4FC"/>
          </a:solidFill>
          <a:ln>
            <a:solidFill>
              <a:srgbClr val="2F5B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0" y="3378489"/>
            <a:ext cx="9144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R5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1300" y="3332770"/>
            <a:ext cx="1143000" cy="566928"/>
          </a:xfrm>
          <a:prstGeom prst="roundRect">
            <a:avLst/>
          </a:prstGeom>
          <a:solidFill>
            <a:srgbClr val="F7F9FC"/>
          </a:solidFill>
          <a:ln>
            <a:solidFill>
              <a:srgbClr val="2AA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401300" y="3378489"/>
            <a:ext cx="1143000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Host 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993392" y="3616234"/>
            <a:ext cx="886968" cy="0"/>
          </a:xfrm>
          <a:prstGeom prst="line">
            <a:avLst/>
          </a:prstGeom>
          <a:ln w="25400">
            <a:solidFill>
              <a:srgbClr val="2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94760" y="2683546"/>
            <a:ext cx="941832" cy="795528"/>
          </a:xfrm>
          <a:prstGeom prst="line">
            <a:avLst/>
          </a:prstGeom>
          <a:ln w="25400">
            <a:solidFill>
              <a:srgbClr val="2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94760" y="3753394"/>
            <a:ext cx="941832" cy="758952"/>
          </a:xfrm>
          <a:prstGeom prst="line">
            <a:avLst/>
          </a:prstGeom>
          <a:ln w="25400">
            <a:solidFill>
              <a:srgbClr val="2AA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623560" y="2610394"/>
            <a:ext cx="1234440" cy="777240"/>
          </a:xfrm>
          <a:prstGeom prst="line">
            <a:avLst/>
          </a:prstGeom>
          <a:ln w="25400">
            <a:solidFill>
              <a:srgbClr val="2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623560" y="3844834"/>
            <a:ext cx="1234440" cy="731520"/>
          </a:xfrm>
          <a:prstGeom prst="line">
            <a:avLst/>
          </a:prstGeom>
          <a:ln w="25400">
            <a:solidFill>
              <a:srgbClr val="2AA0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772400" y="3616234"/>
            <a:ext cx="1005840" cy="0"/>
          </a:xfrm>
          <a:prstGeom prst="line">
            <a:avLst/>
          </a:prstGeom>
          <a:ln w="25400">
            <a:solidFill>
              <a:srgbClr val="2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92640" y="3616234"/>
            <a:ext cx="685800" cy="0"/>
          </a:xfrm>
          <a:prstGeom prst="line">
            <a:avLst/>
          </a:prstGeom>
          <a:ln w="25400">
            <a:solidFill>
              <a:srgbClr val="2F5B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77840" y="1860586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F5BBE"/>
                </a:solidFill>
                <a:latin typeface="Aptos"/>
              </a:rPr>
              <a:t>Path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033554"/>
            <a:ext cx="914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AA0BE"/>
                </a:solidFill>
                <a:latin typeface="Aptos"/>
              </a:rPr>
              <a:t>Path 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4640" y="5673634"/>
            <a:ext cx="67665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0F234E"/>
                </a:solidFill>
                <a:latin typeface="Aptos"/>
              </a:rPr>
              <a:t>IPv6/SRv6 routing + packet capture</a:t>
            </a:r>
          </a:p>
        </p:txBody>
      </p:sp>
      <p:pic>
        <p:nvPicPr>
          <p:cNvPr id="37" name="Image 2">
            <a:extLst>
              <a:ext uri="{FF2B5EF4-FFF2-40B4-BE49-F238E27FC236}">
                <a16:creationId xmlns:a16="http://schemas.microsoft.com/office/drawing/2014/main" id="{47692A98-1ADF-88EA-6DC5-C98BB81E2DF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0352" y="211236"/>
            <a:ext cx="1000125" cy="1000125"/>
          </a:xfrm>
          <a:prstGeom prst="rect">
            <a:avLst/>
          </a:prstGeom>
        </p:spPr>
      </p:pic>
      <p:pic>
        <p:nvPicPr>
          <p:cNvPr id="38" name="Image 3">
            <a:extLst>
              <a:ext uri="{FF2B5EF4-FFF2-40B4-BE49-F238E27FC236}">
                <a16:creationId xmlns:a16="http://schemas.microsoft.com/office/drawing/2014/main" id="{A6BAD326-D2DD-6BB4-B71E-B6996DF89B9C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794546" y="275244"/>
            <a:ext cx="962025" cy="1000125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2F94F0D5-E907-B1B6-F5BC-6E8E11297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5429" y="4375403"/>
            <a:ext cx="3701142" cy="1528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8 / 11</a:t>
            </a:r>
          </a:p>
        </p:txBody>
      </p:sp>
      <p:pic>
        <p:nvPicPr>
          <p:cNvPr id="45" name="Image 2">
            <a:extLst>
              <a:ext uri="{FF2B5EF4-FFF2-40B4-BE49-F238E27FC236}">
                <a16:creationId xmlns:a16="http://schemas.microsoft.com/office/drawing/2014/main" id="{EC785E46-6A25-F374-88E8-744F4B3DBB5D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68617" y="142873"/>
            <a:ext cx="1000125" cy="1000125"/>
          </a:xfrm>
          <a:prstGeom prst="rect">
            <a:avLst/>
          </a:prstGeom>
        </p:spPr>
      </p:pic>
      <p:pic>
        <p:nvPicPr>
          <p:cNvPr id="46" name="Image 3">
            <a:extLst>
              <a:ext uri="{FF2B5EF4-FFF2-40B4-BE49-F238E27FC236}">
                <a16:creationId xmlns:a16="http://schemas.microsoft.com/office/drawing/2014/main" id="{13F53076-11AF-4C12-5491-BAC052494783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03267" y="215429"/>
            <a:ext cx="962025" cy="1000125"/>
          </a:xfrm>
          <a:prstGeom prst="rect">
            <a:avLst/>
          </a:prstGeom>
        </p:spPr>
      </p:pic>
      <p:sp>
        <p:nvSpPr>
          <p:cNvPr id="51" name="Title">
            <a:extLst>
              <a:ext uri="{FF2B5EF4-FFF2-40B4-BE49-F238E27FC236}">
                <a16:creationId xmlns:a16="http://schemas.microsoft.com/office/drawing/2014/main" id="{55970298-0A47-FF3B-4EEC-699DDDEB5C4A}"/>
              </a:ext>
            </a:extLst>
          </p:cNvPr>
          <p:cNvSpPr txBox="1"/>
          <p:nvPr/>
        </p:nvSpPr>
        <p:spPr>
          <a:xfrm>
            <a:off x="1691640" y="632624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</a:t>
            </a:r>
            <a:endParaRPr lang="en-US" sz="3600" dirty="0"/>
          </a:p>
        </p:txBody>
      </p:sp>
      <p:sp>
        <p:nvSpPr>
          <p:cNvPr id="53" name="Step 1">
            <a:extLst>
              <a:ext uri="{FF2B5EF4-FFF2-40B4-BE49-F238E27FC236}">
                <a16:creationId xmlns:a16="http://schemas.microsoft.com/office/drawing/2014/main" id="{35A5B75C-5ACB-442C-80CA-486923F0E0B9}"/>
              </a:ext>
            </a:extLst>
          </p:cNvPr>
          <p:cNvSpPr txBox="1"/>
          <p:nvPr/>
        </p:nvSpPr>
        <p:spPr>
          <a:xfrm>
            <a:off x="457200" y="140864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Configure network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routers, IPv6 addresses, endpoints</a:t>
            </a:r>
            <a:endParaRPr lang="en-US" sz="1600" dirty="0"/>
          </a:p>
        </p:txBody>
      </p:sp>
      <p:sp>
        <p:nvSpPr>
          <p:cNvPr id="55" name="Step 2">
            <a:extLst>
              <a:ext uri="{FF2B5EF4-FFF2-40B4-BE49-F238E27FC236}">
                <a16:creationId xmlns:a16="http://schemas.microsoft.com/office/drawing/2014/main" id="{13762523-9840-DAF5-05CD-794C65925C6A}"/>
              </a:ext>
            </a:extLst>
          </p:cNvPr>
          <p:cNvSpPr txBox="1"/>
          <p:nvPr/>
        </p:nvSpPr>
        <p:spPr>
          <a:xfrm>
            <a:off x="3392424" y="140864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Select experiment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IPv6 routing, B: SRv6 steering</a:t>
            </a:r>
            <a:endParaRPr lang="en-US" sz="1600" dirty="0"/>
          </a:p>
        </p:txBody>
      </p:sp>
      <p:sp>
        <p:nvSpPr>
          <p:cNvPr id="57" name="Step 3">
            <a:extLst>
              <a:ext uri="{FF2B5EF4-FFF2-40B4-BE49-F238E27FC236}">
                <a16:creationId xmlns:a16="http://schemas.microsoft.com/office/drawing/2014/main" id="{960D75C6-BA82-0D90-4A86-32F7F92556EF}"/>
              </a:ext>
            </a:extLst>
          </p:cNvPr>
          <p:cNvSpPr txBox="1"/>
          <p:nvPr/>
        </p:nvSpPr>
        <p:spPr>
          <a:xfrm>
            <a:off x="6327648" y="140864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traffic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ping, source to destination</a:t>
            </a:r>
            <a:endParaRPr lang="en-US" sz="1600" dirty="0"/>
          </a:p>
        </p:txBody>
      </p:sp>
      <p:sp>
        <p:nvSpPr>
          <p:cNvPr id="59" name="Step 4">
            <a:extLst>
              <a:ext uri="{FF2B5EF4-FFF2-40B4-BE49-F238E27FC236}">
                <a16:creationId xmlns:a16="http://schemas.microsoft.com/office/drawing/2014/main" id="{6EC6E2FF-FCE7-44F7-5884-9FDF759129E6}"/>
              </a:ext>
            </a:extLst>
          </p:cNvPr>
          <p:cNvSpPr txBox="1"/>
          <p:nvPr/>
        </p:nvSpPr>
        <p:spPr>
          <a:xfrm>
            <a:off x="9262872" y="140864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Record baseline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latency, path, packet headers</a:t>
            </a:r>
            <a:endParaRPr lang="en-US" sz="1600" dirty="0"/>
          </a:p>
        </p:txBody>
      </p:sp>
      <p:sp>
        <p:nvSpPr>
          <p:cNvPr id="61" name="Step 5">
            <a:extLst>
              <a:ext uri="{FF2B5EF4-FFF2-40B4-BE49-F238E27FC236}">
                <a16:creationId xmlns:a16="http://schemas.microsoft.com/office/drawing/2014/main" id="{C863A6FA-1192-CC8A-AD06-5071652B036A}"/>
              </a:ext>
            </a:extLst>
          </p:cNvPr>
          <p:cNvSpPr txBox="1"/>
          <p:nvPr/>
        </p:nvSpPr>
        <p:spPr>
          <a:xfrm>
            <a:off x="457200" y="2917404"/>
            <a:ext cx="2468880" cy="1280160"/>
          </a:xfrm>
          <a:prstGeom prst="rect">
            <a:avLst/>
          </a:prstGeom>
          <a:solidFill>
            <a:srgbClr val="B4531A"/>
          </a:solidFill>
          <a:ln>
            <a:solidFill>
              <a:srgbClr val="B4531A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Trigger link failure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R3–R5 at a recorded time</a:t>
            </a:r>
            <a:endParaRPr lang="en-US" sz="1600" dirty="0"/>
          </a:p>
        </p:txBody>
      </p:sp>
      <p:sp>
        <p:nvSpPr>
          <p:cNvPr id="63" name="Step 6">
            <a:extLst>
              <a:ext uri="{FF2B5EF4-FFF2-40B4-BE49-F238E27FC236}">
                <a16:creationId xmlns:a16="http://schemas.microsoft.com/office/drawing/2014/main" id="{42FED06C-A864-A732-DD1D-98B700FCBB08}"/>
              </a:ext>
            </a:extLst>
          </p:cNvPr>
          <p:cNvSpPr txBox="1"/>
          <p:nvPr/>
        </p:nvSpPr>
        <p:spPr>
          <a:xfrm>
            <a:off x="3392424" y="291740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Recover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IPv6: routing reconverges. SRv6: script switches to backup via R4</a:t>
            </a:r>
            <a:endParaRPr lang="en-US" sz="1600" dirty="0"/>
          </a:p>
        </p:txBody>
      </p:sp>
      <p:sp>
        <p:nvSpPr>
          <p:cNvPr id="65" name="Step 7">
            <a:extLst>
              <a:ext uri="{FF2B5EF4-FFF2-40B4-BE49-F238E27FC236}">
                <a16:creationId xmlns:a16="http://schemas.microsoft.com/office/drawing/2014/main" id="{7AEE8E67-4F66-8AA3-F553-606F6F097EEB}"/>
              </a:ext>
            </a:extLst>
          </p:cNvPr>
          <p:cNvSpPr txBox="1"/>
          <p:nvPr/>
        </p:nvSpPr>
        <p:spPr>
          <a:xfrm>
            <a:off x="6327648" y="291740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Capture and analyze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PCAPs, logs, timestamps, ping results, Python, CSV</a:t>
            </a:r>
            <a:endParaRPr lang="en-US" sz="1600" dirty="0"/>
          </a:p>
        </p:txBody>
      </p:sp>
      <p:sp>
        <p:nvSpPr>
          <p:cNvPr id="67" name="Step 8">
            <a:extLst>
              <a:ext uri="{FF2B5EF4-FFF2-40B4-BE49-F238E27FC236}">
                <a16:creationId xmlns:a16="http://schemas.microsoft.com/office/drawing/2014/main" id="{47EAF6BF-5070-E266-EF0C-7115BDF64C09}"/>
              </a:ext>
            </a:extLst>
          </p:cNvPr>
          <p:cNvSpPr txBox="1"/>
          <p:nvPr/>
        </p:nvSpPr>
        <p:spPr>
          <a:xfrm>
            <a:off x="9262872" y="2917404"/>
            <a:ext cx="2468880" cy="1280160"/>
          </a:xfrm>
          <a:prstGeom prst="rect">
            <a:avLst/>
          </a:prstGeom>
          <a:solidFill>
            <a:srgbClr val="EAF0F6"/>
          </a:solidFill>
          <a:ln>
            <a:solidFill>
              <a:srgbClr val="EAF0F6"/>
            </a:solidFill>
          </a:ln>
        </p:spPr>
        <p:txBody>
          <a:bodyPr wrap="square" lIns="114300" tIns="114300" rIns="114300" bIns="11430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Compare results</a:t>
            </a:r>
            <a:endParaRPr lang="en-US" sz="16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Loss, recovery time, path, header overhead</a:t>
            </a:r>
            <a:endParaRPr lang="en-US" sz="1600" dirty="0"/>
          </a:p>
        </p:txBody>
      </p:sp>
      <p:sp>
        <p:nvSpPr>
          <p:cNvPr id="69" name="Arrow 1-2">
            <a:extLst>
              <a:ext uri="{FF2B5EF4-FFF2-40B4-BE49-F238E27FC236}">
                <a16:creationId xmlns:a16="http://schemas.microsoft.com/office/drawing/2014/main" id="{2676A704-32FA-5C59-C6CD-0E9C026727F5}"/>
              </a:ext>
            </a:extLst>
          </p:cNvPr>
          <p:cNvSpPr/>
          <p:nvPr/>
        </p:nvSpPr>
        <p:spPr>
          <a:xfrm>
            <a:off x="2962656" y="2048724"/>
            <a:ext cx="3931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1" name="Arrow 2-3">
            <a:extLst>
              <a:ext uri="{FF2B5EF4-FFF2-40B4-BE49-F238E27FC236}">
                <a16:creationId xmlns:a16="http://schemas.microsoft.com/office/drawing/2014/main" id="{9621A18C-08E2-97FA-E3D3-CE50B971A2B7}"/>
              </a:ext>
            </a:extLst>
          </p:cNvPr>
          <p:cNvSpPr/>
          <p:nvPr/>
        </p:nvSpPr>
        <p:spPr>
          <a:xfrm>
            <a:off x="5897880" y="2048724"/>
            <a:ext cx="3931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3" name="Arrow 3-4">
            <a:extLst>
              <a:ext uri="{FF2B5EF4-FFF2-40B4-BE49-F238E27FC236}">
                <a16:creationId xmlns:a16="http://schemas.microsoft.com/office/drawing/2014/main" id="{56C3ED23-F9D3-E43A-F566-A3EE38AB3D31}"/>
              </a:ext>
            </a:extLst>
          </p:cNvPr>
          <p:cNvSpPr/>
          <p:nvPr/>
        </p:nvSpPr>
        <p:spPr>
          <a:xfrm>
            <a:off x="8833104" y="2048724"/>
            <a:ext cx="3931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5" name="Arrow 5-6">
            <a:extLst>
              <a:ext uri="{FF2B5EF4-FFF2-40B4-BE49-F238E27FC236}">
                <a16:creationId xmlns:a16="http://schemas.microsoft.com/office/drawing/2014/main" id="{1C1FB1B0-F1F0-A6A3-01BF-1F2E44BCB3F2}"/>
              </a:ext>
            </a:extLst>
          </p:cNvPr>
          <p:cNvSpPr/>
          <p:nvPr/>
        </p:nvSpPr>
        <p:spPr>
          <a:xfrm>
            <a:off x="2962656" y="3557484"/>
            <a:ext cx="3931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7" name="Arrow 6-7">
            <a:extLst>
              <a:ext uri="{FF2B5EF4-FFF2-40B4-BE49-F238E27FC236}">
                <a16:creationId xmlns:a16="http://schemas.microsoft.com/office/drawing/2014/main" id="{AA24689B-E660-F547-738E-66EFAA290ECA}"/>
              </a:ext>
            </a:extLst>
          </p:cNvPr>
          <p:cNvSpPr/>
          <p:nvPr/>
        </p:nvSpPr>
        <p:spPr>
          <a:xfrm>
            <a:off x="5897880" y="3557484"/>
            <a:ext cx="3931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79" name="Arrow 7-8">
            <a:extLst>
              <a:ext uri="{FF2B5EF4-FFF2-40B4-BE49-F238E27FC236}">
                <a16:creationId xmlns:a16="http://schemas.microsoft.com/office/drawing/2014/main" id="{E3E2D26A-E808-9479-F4E0-D0D47FF074FA}"/>
              </a:ext>
            </a:extLst>
          </p:cNvPr>
          <p:cNvSpPr/>
          <p:nvPr/>
        </p:nvSpPr>
        <p:spPr>
          <a:xfrm>
            <a:off x="8833104" y="3557484"/>
            <a:ext cx="39319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81" name="Elbow a">
            <a:extLst>
              <a:ext uri="{FF2B5EF4-FFF2-40B4-BE49-F238E27FC236}">
                <a16:creationId xmlns:a16="http://schemas.microsoft.com/office/drawing/2014/main" id="{405B7ACA-1E62-8467-B9A2-9FBB4035AD1A}"/>
              </a:ext>
            </a:extLst>
          </p:cNvPr>
          <p:cNvSpPr/>
          <p:nvPr/>
        </p:nvSpPr>
        <p:spPr>
          <a:xfrm>
            <a:off x="10497312" y="2688804"/>
            <a:ext cx="0" cy="11430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83" name="Elbow b">
            <a:extLst>
              <a:ext uri="{FF2B5EF4-FFF2-40B4-BE49-F238E27FC236}">
                <a16:creationId xmlns:a16="http://schemas.microsoft.com/office/drawing/2014/main" id="{93D0435A-D154-D204-3CD6-CAC316D546C1}"/>
              </a:ext>
            </a:extLst>
          </p:cNvPr>
          <p:cNvSpPr/>
          <p:nvPr/>
        </p:nvSpPr>
        <p:spPr>
          <a:xfrm>
            <a:off x="1691640" y="2803104"/>
            <a:ext cx="8805672" cy="0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</a:ln>
        </p:spPr>
      </p:sp>
      <p:sp>
        <p:nvSpPr>
          <p:cNvPr id="85" name="Elbow c">
            <a:extLst>
              <a:ext uri="{FF2B5EF4-FFF2-40B4-BE49-F238E27FC236}">
                <a16:creationId xmlns:a16="http://schemas.microsoft.com/office/drawing/2014/main" id="{F700D2DA-2177-3495-3432-584FF24B9E33}"/>
              </a:ext>
            </a:extLst>
          </p:cNvPr>
          <p:cNvSpPr/>
          <p:nvPr/>
        </p:nvSpPr>
        <p:spPr>
          <a:xfrm>
            <a:off x="1691640" y="2803104"/>
            <a:ext cx="0" cy="86868"/>
          </a:xfrm>
          <a:prstGeom prst="line">
            <a:avLst/>
          </a:prstGeom>
          <a:noFill/>
          <a:ln w="25400">
            <a:solidFill>
              <a:srgbClr val="1F3A5F"/>
            </a:solidFill>
            <a:prstDash val="solid"/>
            <a:tailEnd type="triangle"/>
          </a:ln>
        </p:spPr>
      </p:sp>
      <p:sp>
        <p:nvSpPr>
          <p:cNvPr id="87" name="Topology heading">
            <a:extLst>
              <a:ext uri="{FF2B5EF4-FFF2-40B4-BE49-F238E27FC236}">
                <a16:creationId xmlns:a16="http://schemas.microsoft.com/office/drawing/2014/main" id="{0C882D80-F297-D681-E9C6-7D19DE59B7F8}"/>
              </a:ext>
            </a:extLst>
          </p:cNvPr>
          <p:cNvSpPr txBox="1"/>
          <p:nvPr/>
        </p:nvSpPr>
        <p:spPr>
          <a:xfrm>
            <a:off x="457200" y="43804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path</a:t>
            </a:r>
            <a:endParaRPr lang="en-US" sz="1800" dirty="0"/>
          </a:p>
        </p:txBody>
      </p:sp>
      <p:sp>
        <p:nvSpPr>
          <p:cNvPr id="89" name="R1-R2">
            <a:extLst>
              <a:ext uri="{FF2B5EF4-FFF2-40B4-BE49-F238E27FC236}">
                <a16:creationId xmlns:a16="http://schemas.microsoft.com/office/drawing/2014/main" id="{B2A78F1F-34F8-7ECF-A4E4-5D266B82905C}"/>
              </a:ext>
            </a:extLst>
          </p:cNvPr>
          <p:cNvSpPr/>
          <p:nvPr/>
        </p:nvSpPr>
        <p:spPr>
          <a:xfrm>
            <a:off x="1645920" y="5660604"/>
            <a:ext cx="109728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</p:sp>
      <p:sp>
        <p:nvSpPr>
          <p:cNvPr id="91" name="R2-R3">
            <a:extLst>
              <a:ext uri="{FF2B5EF4-FFF2-40B4-BE49-F238E27FC236}">
                <a16:creationId xmlns:a16="http://schemas.microsoft.com/office/drawing/2014/main" id="{1E90A0C0-1BA4-F78C-2E90-32C726756B92}"/>
              </a:ext>
            </a:extLst>
          </p:cNvPr>
          <p:cNvSpPr/>
          <p:nvPr/>
        </p:nvSpPr>
        <p:spPr>
          <a:xfrm flipV="1">
            <a:off x="3474720" y="5111964"/>
            <a:ext cx="1463040" cy="54864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</p:sp>
      <p:sp>
        <p:nvSpPr>
          <p:cNvPr id="93" name="R3-R5 failed">
            <a:extLst>
              <a:ext uri="{FF2B5EF4-FFF2-40B4-BE49-F238E27FC236}">
                <a16:creationId xmlns:a16="http://schemas.microsoft.com/office/drawing/2014/main" id="{77E0BA62-5EDD-C90E-3378-80E29333327F}"/>
              </a:ext>
            </a:extLst>
          </p:cNvPr>
          <p:cNvSpPr/>
          <p:nvPr/>
        </p:nvSpPr>
        <p:spPr>
          <a:xfrm>
            <a:off x="5669280" y="5146576"/>
            <a:ext cx="1463040" cy="548640"/>
          </a:xfrm>
          <a:prstGeom prst="line">
            <a:avLst/>
          </a:prstGeom>
          <a:noFill/>
          <a:ln w="38100">
            <a:solidFill>
              <a:srgbClr val="B4531A"/>
            </a:solidFill>
            <a:prstDash val="dash"/>
          </a:ln>
        </p:spPr>
      </p:sp>
      <p:sp>
        <p:nvSpPr>
          <p:cNvPr id="95" name="R2-R4">
            <a:extLst>
              <a:ext uri="{FF2B5EF4-FFF2-40B4-BE49-F238E27FC236}">
                <a16:creationId xmlns:a16="http://schemas.microsoft.com/office/drawing/2014/main" id="{8D398E59-31A0-3B64-FDF3-FAF36029BD95}"/>
              </a:ext>
            </a:extLst>
          </p:cNvPr>
          <p:cNvSpPr/>
          <p:nvPr/>
        </p:nvSpPr>
        <p:spPr>
          <a:xfrm>
            <a:off x="3474720" y="5660604"/>
            <a:ext cx="1463040" cy="548640"/>
          </a:xfrm>
          <a:prstGeom prst="line">
            <a:avLst/>
          </a:prstGeom>
          <a:noFill/>
          <a:ln w="38100">
            <a:solidFill>
              <a:srgbClr val="0B7A8A"/>
            </a:solidFill>
            <a:prstDash val="dash"/>
          </a:ln>
        </p:spPr>
      </p:sp>
      <p:sp>
        <p:nvSpPr>
          <p:cNvPr id="97" name="R4-R5">
            <a:extLst>
              <a:ext uri="{FF2B5EF4-FFF2-40B4-BE49-F238E27FC236}">
                <a16:creationId xmlns:a16="http://schemas.microsoft.com/office/drawing/2014/main" id="{E02517A0-B2B4-7862-E6BF-82CD8BDC8D3C}"/>
              </a:ext>
            </a:extLst>
          </p:cNvPr>
          <p:cNvSpPr/>
          <p:nvPr/>
        </p:nvSpPr>
        <p:spPr>
          <a:xfrm flipV="1">
            <a:off x="5669280" y="5660604"/>
            <a:ext cx="1463040" cy="548640"/>
          </a:xfrm>
          <a:prstGeom prst="line">
            <a:avLst/>
          </a:prstGeom>
          <a:noFill/>
          <a:ln w="38100">
            <a:solidFill>
              <a:srgbClr val="0B7A8A"/>
            </a:solidFill>
            <a:prstDash val="dash"/>
          </a:ln>
        </p:spPr>
      </p:sp>
      <p:sp>
        <p:nvSpPr>
          <p:cNvPr id="99" name="Node R1">
            <a:extLst>
              <a:ext uri="{FF2B5EF4-FFF2-40B4-BE49-F238E27FC236}">
                <a16:creationId xmlns:a16="http://schemas.microsoft.com/office/drawing/2014/main" id="{507AF5B8-9F9D-6D4F-727E-5777AB15A97B}"/>
              </a:ext>
            </a:extLst>
          </p:cNvPr>
          <p:cNvSpPr txBox="1"/>
          <p:nvPr/>
        </p:nvSpPr>
        <p:spPr>
          <a:xfrm>
            <a:off x="914400" y="5432004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600" dirty="0"/>
          </a:p>
        </p:txBody>
      </p:sp>
      <p:sp>
        <p:nvSpPr>
          <p:cNvPr id="101" name="Node R2">
            <a:extLst>
              <a:ext uri="{FF2B5EF4-FFF2-40B4-BE49-F238E27FC236}">
                <a16:creationId xmlns:a16="http://schemas.microsoft.com/office/drawing/2014/main" id="{E21BA7FC-81C5-014F-95ED-EC459194D30E}"/>
              </a:ext>
            </a:extLst>
          </p:cNvPr>
          <p:cNvSpPr txBox="1"/>
          <p:nvPr/>
        </p:nvSpPr>
        <p:spPr>
          <a:xfrm>
            <a:off x="2743200" y="5432004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600" dirty="0"/>
          </a:p>
        </p:txBody>
      </p:sp>
      <p:sp>
        <p:nvSpPr>
          <p:cNvPr id="103" name="Node R3">
            <a:extLst>
              <a:ext uri="{FF2B5EF4-FFF2-40B4-BE49-F238E27FC236}">
                <a16:creationId xmlns:a16="http://schemas.microsoft.com/office/drawing/2014/main" id="{90952AB5-C1A7-8578-F0F5-CA465C70E7AD}"/>
              </a:ext>
            </a:extLst>
          </p:cNvPr>
          <p:cNvSpPr txBox="1"/>
          <p:nvPr/>
        </p:nvSpPr>
        <p:spPr>
          <a:xfrm>
            <a:off x="4937760" y="4883364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1600" dirty="0"/>
          </a:p>
        </p:txBody>
      </p:sp>
      <p:sp>
        <p:nvSpPr>
          <p:cNvPr id="105" name="Node R4">
            <a:extLst>
              <a:ext uri="{FF2B5EF4-FFF2-40B4-BE49-F238E27FC236}">
                <a16:creationId xmlns:a16="http://schemas.microsoft.com/office/drawing/2014/main" id="{9782816B-6D4B-EEF4-E1BA-35E4C289A193}"/>
              </a:ext>
            </a:extLst>
          </p:cNvPr>
          <p:cNvSpPr txBox="1"/>
          <p:nvPr/>
        </p:nvSpPr>
        <p:spPr>
          <a:xfrm>
            <a:off x="4937760" y="5980644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600" dirty="0"/>
          </a:p>
        </p:txBody>
      </p:sp>
      <p:sp>
        <p:nvSpPr>
          <p:cNvPr id="107" name="Node R5">
            <a:extLst>
              <a:ext uri="{FF2B5EF4-FFF2-40B4-BE49-F238E27FC236}">
                <a16:creationId xmlns:a16="http://schemas.microsoft.com/office/drawing/2014/main" id="{586656D2-11F9-3772-7342-669BF1E818B2}"/>
              </a:ext>
            </a:extLst>
          </p:cNvPr>
          <p:cNvSpPr txBox="1"/>
          <p:nvPr/>
        </p:nvSpPr>
        <p:spPr>
          <a:xfrm>
            <a:off x="7132320" y="5432004"/>
            <a:ext cx="7315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1F3A5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1600" dirty="0"/>
          </a:p>
        </p:txBody>
      </p:sp>
      <p:sp>
        <p:nvSpPr>
          <p:cNvPr id="109" name="Failure label">
            <a:extLst>
              <a:ext uri="{FF2B5EF4-FFF2-40B4-BE49-F238E27FC236}">
                <a16:creationId xmlns:a16="http://schemas.microsoft.com/office/drawing/2014/main" id="{963B0760-7874-65BF-28C9-3FD7515B1287}"/>
              </a:ext>
            </a:extLst>
          </p:cNvPr>
          <p:cNvSpPr txBox="1"/>
          <p:nvPr/>
        </p:nvSpPr>
        <p:spPr>
          <a:xfrm>
            <a:off x="5989320" y="47462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53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R3–R5 down</a:t>
            </a:r>
            <a:endParaRPr lang="en-US" sz="1300" dirty="0"/>
          </a:p>
        </p:txBody>
      </p:sp>
      <p:sp>
        <p:nvSpPr>
          <p:cNvPr id="111" name="Legend line 1">
            <a:extLst>
              <a:ext uri="{FF2B5EF4-FFF2-40B4-BE49-F238E27FC236}">
                <a16:creationId xmlns:a16="http://schemas.microsoft.com/office/drawing/2014/main" id="{8F1DB07A-AD1F-C8C0-36D8-ABCB7E2DD0F5}"/>
              </a:ext>
            </a:extLst>
          </p:cNvPr>
          <p:cNvSpPr/>
          <p:nvPr/>
        </p:nvSpPr>
        <p:spPr>
          <a:xfrm>
            <a:off x="8869680" y="4974804"/>
            <a:ext cx="548640" cy="0"/>
          </a:xfrm>
          <a:prstGeom prst="line">
            <a:avLst/>
          </a:prstGeom>
          <a:noFill/>
          <a:ln w="38100">
            <a:solidFill>
              <a:srgbClr val="1F3A5F"/>
            </a:solidFill>
            <a:prstDash val="solid"/>
          </a:ln>
        </p:spPr>
      </p:sp>
      <p:sp>
        <p:nvSpPr>
          <p:cNvPr id="113" name="Legend text 1">
            <a:extLst>
              <a:ext uri="{FF2B5EF4-FFF2-40B4-BE49-F238E27FC236}">
                <a16:creationId xmlns:a16="http://schemas.microsoft.com/office/drawing/2014/main" id="{D800CAA8-6121-DAC0-27EF-BDABD06C123D}"/>
              </a:ext>
            </a:extLst>
          </p:cNvPr>
          <p:cNvSpPr txBox="1"/>
          <p:nvPr/>
        </p:nvSpPr>
        <p:spPr>
          <a:xfrm>
            <a:off x="9555480" y="481935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R1, R2, R3, R5</a:t>
            </a:r>
            <a:endParaRPr lang="en-US" sz="1300" dirty="0"/>
          </a:p>
        </p:txBody>
      </p:sp>
      <p:sp>
        <p:nvSpPr>
          <p:cNvPr id="115" name="Legend line 2">
            <a:extLst>
              <a:ext uri="{FF2B5EF4-FFF2-40B4-BE49-F238E27FC236}">
                <a16:creationId xmlns:a16="http://schemas.microsoft.com/office/drawing/2014/main" id="{BB12AD71-DA2D-31B4-2287-6D7F743F52A7}"/>
              </a:ext>
            </a:extLst>
          </p:cNvPr>
          <p:cNvSpPr/>
          <p:nvPr/>
        </p:nvSpPr>
        <p:spPr>
          <a:xfrm>
            <a:off x="8869680" y="5477724"/>
            <a:ext cx="548640" cy="0"/>
          </a:xfrm>
          <a:prstGeom prst="line">
            <a:avLst/>
          </a:prstGeom>
          <a:noFill/>
          <a:ln w="38100">
            <a:solidFill>
              <a:srgbClr val="0B7A8A"/>
            </a:solidFill>
            <a:prstDash val="dash"/>
          </a:ln>
        </p:spPr>
      </p:sp>
      <p:sp>
        <p:nvSpPr>
          <p:cNvPr id="117" name="Legend text 2">
            <a:extLst>
              <a:ext uri="{FF2B5EF4-FFF2-40B4-BE49-F238E27FC236}">
                <a16:creationId xmlns:a16="http://schemas.microsoft.com/office/drawing/2014/main" id="{03DD36D1-1915-CE6B-B878-DABB0057C302}"/>
              </a:ext>
            </a:extLst>
          </p:cNvPr>
          <p:cNvSpPr txBox="1"/>
          <p:nvPr/>
        </p:nvSpPr>
        <p:spPr>
          <a:xfrm>
            <a:off x="9555480" y="532227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Backup: R1, R2, R4, R5</a:t>
            </a:r>
            <a:endParaRPr lang="en-US" sz="1300" dirty="0"/>
          </a:p>
        </p:txBody>
      </p:sp>
      <p:sp>
        <p:nvSpPr>
          <p:cNvPr id="119" name="Legend line 3">
            <a:extLst>
              <a:ext uri="{FF2B5EF4-FFF2-40B4-BE49-F238E27FC236}">
                <a16:creationId xmlns:a16="http://schemas.microsoft.com/office/drawing/2014/main" id="{FE696BDE-CA0F-1654-E5CB-0DA7B9459636}"/>
              </a:ext>
            </a:extLst>
          </p:cNvPr>
          <p:cNvSpPr/>
          <p:nvPr/>
        </p:nvSpPr>
        <p:spPr>
          <a:xfrm>
            <a:off x="8869680" y="5980644"/>
            <a:ext cx="548640" cy="0"/>
          </a:xfrm>
          <a:prstGeom prst="line">
            <a:avLst/>
          </a:prstGeom>
          <a:noFill/>
          <a:ln w="38100">
            <a:solidFill>
              <a:srgbClr val="B4531A"/>
            </a:solidFill>
            <a:prstDash val="dash"/>
          </a:ln>
        </p:spPr>
      </p:sp>
      <p:sp>
        <p:nvSpPr>
          <p:cNvPr id="121" name="Legend text 3">
            <a:extLst>
              <a:ext uri="{FF2B5EF4-FFF2-40B4-BE49-F238E27FC236}">
                <a16:creationId xmlns:a16="http://schemas.microsoft.com/office/drawing/2014/main" id="{FCB7AB8A-D543-E353-2856-94C54D76AC34}"/>
              </a:ext>
            </a:extLst>
          </p:cNvPr>
          <p:cNvSpPr txBox="1"/>
          <p:nvPr/>
        </p:nvSpPr>
        <p:spPr>
          <a:xfrm>
            <a:off x="9528048" y="5825196"/>
            <a:ext cx="2176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link: R3–R5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02920" y="141777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 dirty="0">
                <a:solidFill>
                  <a:srgbClr val="0F234E"/>
                </a:solidFill>
                <a:latin typeface="Aptos"/>
              </a:rPr>
              <a:t>Deployment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626351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662927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662927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9 /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948" y="2193255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5BBE"/>
                </a:solidFill>
                <a:latin typeface="Aptos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3228" y="2174967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Platform &amp; 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348" y="2174967"/>
            <a:ext cx="6903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t>•  Select an SRv6-capable image; build the five-router topology; verify IPv6 reachability.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5948" y="2897343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5BBE"/>
                </a:solidFill>
                <a:latin typeface="Aptos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228" y="2879055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IPv6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348" y="2879055"/>
            <a:ext cx="6903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t>•  Configure ordinary IPv6 routes; record baseline traffic and failure behavior.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948" y="3601431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5BBE"/>
                </a:solidFill>
                <a:latin typeface="Aptos"/>
              </a:rPr>
              <a:t>PHASE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3228" y="3583143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SRv6 configuration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86348" y="3583143"/>
            <a:ext cx="6903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t>•  Configure SIDs and two explicit paths; validate packet captures.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5948" y="4305518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5BBE"/>
                </a:solidFill>
                <a:latin typeface="Aptos"/>
              </a:rPr>
              <a:t>PHASE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228" y="4287231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Failure automation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86348" y="4287231"/>
            <a:ext cx="6903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t>•  Trigger a controlled link-down event; script the backup-policy switch.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5948" y="5009607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5BBE"/>
                </a:solidFill>
                <a:latin typeface="Aptos"/>
              </a:rP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83228" y="4991319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Measurement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348" y="4991319"/>
            <a:ext cx="6903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t>•  Repeat trials; measure packet loss, interruption, detection/repair delay and overhead.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5948" y="5713694"/>
            <a:ext cx="11430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F5BBE"/>
                </a:solidFill>
                <a:latin typeface="Aptos"/>
              </a:rPr>
              <a:t>PHASE 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83228" y="5695407"/>
            <a:ext cx="2057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0F234E"/>
                </a:solidFill>
                <a:latin typeface="Aptos"/>
              </a:rPr>
              <a:t>Deliverables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86348" y="5695407"/>
            <a:ext cx="690372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t>•  Analyze results; prepare the report, demonstration and private GitHub repository.</a:t>
            </a:r>
          </a:p>
        </p:txBody>
      </p:sp>
      <p:pic>
        <p:nvPicPr>
          <p:cNvPr id="46" name="Image 2">
            <a:extLst>
              <a:ext uri="{FF2B5EF4-FFF2-40B4-BE49-F238E27FC236}">
                <a16:creationId xmlns:a16="http://schemas.microsoft.com/office/drawing/2014/main" id="{ABA70A60-EB5B-9CDF-7711-F2EC0C073C3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9803" y="248479"/>
            <a:ext cx="1000125" cy="1000125"/>
          </a:xfrm>
          <a:prstGeom prst="rect">
            <a:avLst/>
          </a:prstGeom>
        </p:spPr>
      </p:pic>
      <p:pic>
        <p:nvPicPr>
          <p:cNvPr id="47" name="Image 3">
            <a:extLst>
              <a:ext uri="{FF2B5EF4-FFF2-40B4-BE49-F238E27FC236}">
                <a16:creationId xmlns:a16="http://schemas.microsoft.com/office/drawing/2014/main" id="{C3F984AD-22F5-860F-8151-BA6DBFFC31F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821869" y="333066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98862" y="1184148"/>
            <a:ext cx="110642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F234E"/>
                </a:solidFill>
                <a:latin typeface="Aptos"/>
              </a:rPr>
              <a:t>Bibliography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0972"/>
          </a:xfrm>
          <a:prstGeom prst="rect">
            <a:avLst/>
          </a:prstGeom>
          <a:solidFill>
            <a:srgbClr val="DCE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955279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606E82"/>
                </a:solidFill>
                <a:latin typeface="Aptos"/>
              </a:rPr>
              <a:t>10 /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91640"/>
            <a:ext cx="1069848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dirty="0"/>
              <a:t>  [1]</a:t>
            </a:r>
            <a:r>
              <a:rPr lang="en-US" dirty="0"/>
              <a:t>   </a:t>
            </a:r>
            <a:r>
              <a:rPr dirty="0"/>
              <a:t> F. Clad et al., “Segment Routing Header (SRH) for IPv6,” RFC 8754, Internet Engineering Task Force, March </a:t>
            </a:r>
            <a:r>
              <a:rPr lang="en-US" dirty="0"/>
              <a:t>  2020. 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68680" y="2359152"/>
            <a:ext cx="10241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 dirty="0">
                <a:solidFill>
                  <a:srgbClr val="2F5BBE"/>
                </a:solidFill>
                <a:latin typeface="Aptos"/>
              </a:rPr>
              <a:t>    https://www.rfc-editor.org/rfc/rfc8754.html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63240"/>
            <a:ext cx="1069848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dirty="0"/>
              <a:t> [2] PS-020: “Local SRv6 Path Steering and Measured Failure Recovery,” AIORI Hackathon 3 problem statement, supplied project brief.</a:t>
            </a:r>
          </a:p>
        </p:txBody>
      </p:sp>
      <p:pic>
        <p:nvPicPr>
          <p:cNvPr id="13" name="Image 2">
            <a:extLst>
              <a:ext uri="{FF2B5EF4-FFF2-40B4-BE49-F238E27FC236}">
                <a16:creationId xmlns:a16="http://schemas.microsoft.com/office/drawing/2014/main" id="{C3A470DD-D190-4459-010D-8B0AB3B36A17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8800" y="68009"/>
            <a:ext cx="1000125" cy="1000125"/>
          </a:xfrm>
          <a:prstGeom prst="rect">
            <a:avLst/>
          </a:prstGeom>
        </p:spPr>
      </p:pic>
      <p:pic>
        <p:nvPicPr>
          <p:cNvPr id="14" name="Image 3">
            <a:extLst>
              <a:ext uri="{FF2B5EF4-FFF2-40B4-BE49-F238E27FC236}">
                <a16:creationId xmlns:a16="http://schemas.microsoft.com/office/drawing/2014/main" id="{77A2D30D-595A-EE4C-56E2-FB602031AFF5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03267" y="293751"/>
            <a:ext cx="962025" cy="10001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8C865E5-4348-83DA-E019-6519632674D6}"/>
              </a:ext>
            </a:extLst>
          </p:cNvPr>
          <p:cNvSpPr txBox="1"/>
          <p:nvPr/>
        </p:nvSpPr>
        <p:spPr>
          <a:xfrm>
            <a:off x="685800" y="4227314"/>
            <a:ext cx="6432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[3]  Official reference: </a:t>
            </a:r>
            <a:r>
              <a:rPr lang="en-US" dirty="0">
                <a:hlinkClick r:id="rId4"/>
              </a:rPr>
              <a:t>IPv6 architecture — RFC 8200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8A73FC-47BC-1906-6608-3A5FB95A33D4}"/>
              </a:ext>
            </a:extLst>
          </p:cNvPr>
          <p:cNvSpPr txBox="1"/>
          <p:nvPr/>
        </p:nvSpPr>
        <p:spPr>
          <a:xfrm>
            <a:off x="1198925" y="5166361"/>
            <a:ext cx="635610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https://segmentv-routing.org/index.php/implementation/configuration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7E84D-8A0E-64FE-0DC1-A761C9BBFAA9}"/>
              </a:ext>
            </a:extLst>
          </p:cNvPr>
          <p:cNvSpPr txBox="1"/>
          <p:nvPr/>
        </p:nvSpPr>
        <p:spPr>
          <a:xfrm>
            <a:off x="685800" y="491185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[4  ]  David Lebrun and the Linux SRv6 implementation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77240" y="2103120"/>
            <a:ext cx="7132320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F5BBE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7040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 i="0">
                <a:solidFill>
                  <a:srgbClr val="232B38"/>
                </a:solidFill>
                <a:latin typeface="Apto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71323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606E82"/>
                </a:solidFill>
                <a:latin typeface="Aptos"/>
              </a:rPr>
              <a:t>PS-020 · Local SRv6 Path Steering and Measured Failure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71323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06E82"/>
                </a:solidFill>
                <a:latin typeface="Aptos"/>
              </a:rPr>
              <a:t>AIORI Hackathon 3 · 6G &amp; Future Networks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70408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2F5BBE"/>
                </a:solidFill>
                <a:latin typeface="Aptos"/>
              </a:rPr>
              <a:t>Thank you for your attention!</a:t>
            </a:r>
          </a:p>
        </p:txBody>
      </p:sp>
      <p:pic>
        <p:nvPicPr>
          <p:cNvPr id="10" name="Image 2">
            <a:extLst>
              <a:ext uri="{FF2B5EF4-FFF2-40B4-BE49-F238E27FC236}">
                <a16:creationId xmlns:a16="http://schemas.microsoft.com/office/drawing/2014/main" id="{23D5E035-1E80-28EB-FDA8-8BB57752C8A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22897" y="322897"/>
            <a:ext cx="1000125" cy="1000125"/>
          </a:xfrm>
          <a:prstGeom prst="rect">
            <a:avLst/>
          </a:prstGeom>
        </p:spPr>
      </p:pic>
      <p:pic>
        <p:nvPicPr>
          <p:cNvPr id="11" name="Image 3">
            <a:extLst>
              <a:ext uri="{FF2B5EF4-FFF2-40B4-BE49-F238E27FC236}">
                <a16:creationId xmlns:a16="http://schemas.microsoft.com/office/drawing/2014/main" id="{E0F736E2-3795-0992-C32D-AD845B1243E7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07078" y="322896"/>
            <a:ext cx="962025" cy="1000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1234</Words>
  <Application>Microsoft Office PowerPoint</Application>
  <PresentationFormat>Widescreen</PresentationFormat>
  <Paragraphs>187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sharadkalamani11@outlook.com</cp:lastModifiedBy>
  <cp:revision>4</cp:revision>
  <dcterms:created xsi:type="dcterms:W3CDTF">2013-01-27T09:14:16Z</dcterms:created>
  <dcterms:modified xsi:type="dcterms:W3CDTF">2026-10-14T09:31:06Z</dcterms:modified>
  <cp:category/>
</cp:coreProperties>
</file>